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71" r:id="rId3"/>
    <p:sldId id="272" r:id="rId4"/>
    <p:sldId id="273" r:id="rId5"/>
    <p:sldId id="270" r:id="rId6"/>
    <p:sldId id="256" r:id="rId7"/>
    <p:sldId id="278" r:id="rId8"/>
    <p:sldId id="257" r:id="rId9"/>
    <p:sldId id="268" r:id="rId10"/>
    <p:sldId id="258" r:id="rId11"/>
    <p:sldId id="260" r:id="rId12"/>
    <p:sldId id="262" r:id="rId13"/>
    <p:sldId id="261" r:id="rId14"/>
    <p:sldId id="263" r:id="rId15"/>
    <p:sldId id="264" r:id="rId16"/>
    <p:sldId id="265" r:id="rId17"/>
    <p:sldId id="266" r:id="rId18"/>
    <p:sldId id="267" r:id="rId19"/>
    <p:sldId id="269" r:id="rId20"/>
    <p:sldId id="274" r:id="rId21"/>
    <p:sldId id="279" r:id="rId22"/>
    <p:sldId id="280" r:id="rId23"/>
    <p:sldId id="275" r:id="rId24"/>
    <p:sldId id="276" r:id="rId25"/>
    <p:sldId id="282" r:id="rId26"/>
    <p:sldId id="283" r:id="rId27"/>
    <p:sldId id="286" r:id="rId28"/>
    <p:sldId id="293" r:id="rId29"/>
    <p:sldId id="294" r:id="rId30"/>
    <p:sldId id="295" r:id="rId31"/>
    <p:sldId id="285" r:id="rId32"/>
    <p:sldId id="287" r:id="rId33"/>
    <p:sldId id="288" r:id="rId34"/>
    <p:sldId id="289" r:id="rId35"/>
    <p:sldId id="290" r:id="rId36"/>
    <p:sldId id="291" r:id="rId37"/>
    <p:sldId id="296" r:id="rId38"/>
    <p:sldId id="284" r:id="rId39"/>
    <p:sldId id="298" r:id="rId40"/>
    <p:sldId id="297" r:id="rId41"/>
    <p:sldId id="299" r:id="rId42"/>
    <p:sldId id="292" r:id="rId43"/>
    <p:sldId id="301" r:id="rId44"/>
    <p:sldId id="302" r:id="rId45"/>
    <p:sldId id="303" r:id="rId46"/>
    <p:sldId id="304" r:id="rId47"/>
    <p:sldId id="306" r:id="rId48"/>
    <p:sldId id="307" r:id="rId49"/>
    <p:sldId id="308" r:id="rId50"/>
    <p:sldId id="309" r:id="rId51"/>
    <p:sldId id="310" r:id="rId52"/>
    <p:sldId id="311" r:id="rId53"/>
    <p:sldId id="312"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GB" dirty="0" smtClean="0"/>
              <a:t>UACSA105 –Data Structures and Algorithms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rmAutofit fontScale="90000"/>
          </a:bodyPr>
          <a:lstStyle/>
          <a:p>
            <a:pPr algn="l"/>
            <a:r>
              <a:rPr lang="en-US" dirty="0" smtClean="0"/>
              <a:t/>
            </a:r>
            <a:br>
              <a:rPr lang="en-US" dirty="0" smtClean="0"/>
            </a:br>
            <a:r>
              <a:rPr lang="en-US" dirty="0" smtClean="0"/>
              <a:t> </a:t>
            </a:r>
            <a:br>
              <a:rPr lang="en-US" dirty="0" smtClean="0"/>
            </a:br>
            <a:r>
              <a:rPr lang="en-US" b="1" dirty="0" smtClean="0"/>
              <a:t>Course Objectives 	</a:t>
            </a:r>
            <a:br>
              <a:rPr lang="en-US" b="1" dirty="0" smtClean="0"/>
            </a:br>
            <a:r>
              <a:rPr lang="en-US" dirty="0" smtClean="0"/>
              <a:t/>
            </a:r>
            <a:br>
              <a:rPr lang="en-US" dirty="0" smtClean="0"/>
            </a:br>
            <a:r>
              <a:rPr lang="en-GB" sz="3600" dirty="0" smtClean="0"/>
              <a:t>1. Analyze algorithm efficiency using asymptotic notation. </a:t>
            </a:r>
            <a:br>
              <a:rPr lang="en-GB" sz="3600" dirty="0" smtClean="0"/>
            </a:br>
            <a:r>
              <a:rPr lang="en-GB" sz="3600" dirty="0" smtClean="0"/>
              <a:t>2. Differentiate linear, non-linear data structures and their operations. </a:t>
            </a:r>
            <a:br>
              <a:rPr lang="en-GB" sz="3600" dirty="0" smtClean="0"/>
            </a:br>
            <a:r>
              <a:rPr lang="en-GB" sz="3600" dirty="0" smtClean="0"/>
              <a:t>3. Design and apply appropriate data structures to solve real-world problems. </a:t>
            </a:r>
            <a:r>
              <a:rPr lang="en-GB" dirty="0" smtClean="0"/>
              <a:t/>
            </a:r>
            <a:br>
              <a:rPr lang="en-GB" dirty="0" smtClean="0"/>
            </a:br>
            <a:r>
              <a:rPr lang="en-US" dirty="0" smtClean="0"/>
              <a:t>	</a:t>
            </a:r>
            <a:br>
              <a:rPr lang="en-US" dirty="0" smtClean="0"/>
            </a:br>
            <a:endParaRPr lang="en-US"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5800" y="381000"/>
            <a:ext cx="7772400" cy="1470025"/>
          </a:xfrm>
        </p:spPr>
        <p:txBody>
          <a:bodyPr>
            <a:normAutofit fontScale="90000"/>
          </a:bodyPr>
          <a:lstStyle/>
          <a:p>
            <a:pPr algn="l"/>
            <a:r>
              <a:rPr lang="en-US" dirty="0" smtClean="0"/>
              <a:t/>
            </a:r>
            <a:br>
              <a:rPr lang="en-US" dirty="0" smtClean="0"/>
            </a:br>
            <a:r>
              <a:rPr lang="en-US" dirty="0" smtClean="0"/>
              <a:t> </a:t>
            </a:r>
            <a:br>
              <a:rPr lang="en-US" dirty="0" smtClean="0"/>
            </a:br>
            <a:r>
              <a:rPr lang="en-US" dirty="0" smtClean="0"/>
              <a:t/>
            </a:r>
            <a:br>
              <a:rPr lang="en-US" dirty="0" smtClean="0"/>
            </a:br>
            <a:r>
              <a:rPr lang="en-US" dirty="0" smtClean="0"/>
              <a:t/>
            </a:r>
            <a:br>
              <a:rPr lang="en-US" dirty="0" smtClean="0"/>
            </a:br>
            <a:r>
              <a:rPr lang="en-GB" dirty="0" smtClean="0"/>
              <a:t/>
            </a:r>
            <a:br>
              <a:rPr lang="en-GB" dirty="0" smtClean="0"/>
            </a:br>
            <a:r>
              <a:rPr lang="en-US" dirty="0" smtClean="0"/>
              <a:t>	</a:t>
            </a:r>
            <a:br>
              <a:rPr lang="en-US" dirty="0" smtClean="0"/>
            </a:br>
            <a:r>
              <a:rPr lang="en-US" b="1" dirty="0" smtClean="0"/>
              <a:t>Course Outcomes 	</a:t>
            </a:r>
            <a:br>
              <a:rPr lang="en-US" b="1" dirty="0" smtClean="0"/>
            </a:br>
            <a:r>
              <a:rPr lang="en-US" dirty="0" smtClean="0"/>
              <a:t/>
            </a:r>
            <a:br>
              <a:rPr lang="en-US" dirty="0" smtClean="0"/>
            </a:br>
            <a:r>
              <a:rPr lang="en-GB" sz="3100" dirty="0" smtClean="0"/>
              <a:t>1. Understand the basic concepts of data structures and time complexity analysis of algorithms </a:t>
            </a:r>
            <a:br>
              <a:rPr lang="en-GB" sz="3100" dirty="0" smtClean="0"/>
            </a:br>
            <a:r>
              <a:rPr lang="en-GB" sz="3100" dirty="0" smtClean="0"/>
              <a:t>2. Choose appropriate linear data structures and legal operations permitted on them. </a:t>
            </a:r>
            <a:br>
              <a:rPr lang="en-GB" sz="3100" dirty="0" smtClean="0"/>
            </a:br>
            <a:r>
              <a:rPr lang="en-GB" sz="3100" dirty="0" smtClean="0"/>
              <a:t>3. Articulate non-linear data structure operations for solving a given problem. </a:t>
            </a:r>
            <a:br>
              <a:rPr lang="en-GB" sz="3100" dirty="0" smtClean="0"/>
            </a:br>
            <a:r>
              <a:rPr lang="en-GB" sz="3100" dirty="0" smtClean="0"/>
              <a:t>4. Discover various tree and graph traversals. </a:t>
            </a:r>
            <a:br>
              <a:rPr lang="en-GB" sz="3100" dirty="0" smtClean="0"/>
            </a:br>
            <a:r>
              <a:rPr lang="en-GB" sz="3100" dirty="0" smtClean="0"/>
              <a:t>5. Analyze the various searching and sorting algorithm </a:t>
            </a:r>
            <a:r>
              <a:rPr lang="en-GB" dirty="0" smtClean="0"/>
              <a:t/>
            </a:r>
            <a:br>
              <a:rPr lang="en-GB" dirty="0" smtClean="0"/>
            </a:br>
            <a:r>
              <a:rPr lang="en-US" dirty="0" smtClean="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5800" y="228601"/>
            <a:ext cx="7772400" cy="685800"/>
          </a:xfrm>
        </p:spPr>
        <p:txBody>
          <a:bodyPr>
            <a:normAutofit fontScale="90000"/>
          </a:bodyPr>
          <a:lstStyle/>
          <a:p>
            <a:r>
              <a:rPr lang="en-GB" dirty="0" smtClean="0"/>
              <a:t>Module -1 Algorithm Analysis</a:t>
            </a:r>
            <a:endParaRPr lang="en-US" dirty="0"/>
          </a:p>
        </p:txBody>
      </p:sp>
      <p:sp>
        <p:nvSpPr>
          <p:cNvPr id="3" name="Rectangle 2"/>
          <p:cNvSpPr/>
          <p:nvPr/>
        </p:nvSpPr>
        <p:spPr>
          <a:xfrm>
            <a:off x="381000" y="1143000"/>
            <a:ext cx="8382000" cy="2954655"/>
          </a:xfrm>
          <a:prstGeom prst="rect">
            <a:avLst/>
          </a:prstGeom>
        </p:spPr>
        <p:txBody>
          <a:bodyPr wrap="square">
            <a:spAutoFit/>
          </a:bodyPr>
          <a:lstStyle/>
          <a:p>
            <a:endParaRPr lang="en-US" dirty="0" smtClean="0"/>
          </a:p>
          <a:p>
            <a:pPr algn="just"/>
            <a:r>
              <a:rPr lang="en-GB" dirty="0" smtClean="0"/>
              <a:t> </a:t>
            </a:r>
            <a:r>
              <a:rPr lang="en-GB" sz="2800" dirty="0" smtClean="0"/>
              <a:t>Importance of algorithms and data structures – Abstract Data Types - Fundamentals of algorithm analysis: space and time complexity of an algorithm, Types of asymptotic notations and rate of growths – Algorithm efficiency – Analysis of non-recursive and recursive algorithms </a:t>
            </a:r>
            <a:r>
              <a:rPr lang="en-GB" dirty="0" smtClean="0"/>
              <a:t>	</a:t>
            </a:r>
          </a:p>
        </p:txBody>
      </p:sp>
      <p:sp>
        <p:nvSpPr>
          <p:cNvPr id="4" name="Rectangle 3"/>
          <p:cNvSpPr/>
          <p:nvPr/>
        </p:nvSpPr>
        <p:spPr>
          <a:xfrm>
            <a:off x="304800" y="3810000"/>
            <a:ext cx="8229600" cy="2862322"/>
          </a:xfrm>
          <a:prstGeom prst="rect">
            <a:avLst/>
          </a:prstGeom>
        </p:spPr>
        <p:txBody>
          <a:bodyPr wrap="square">
            <a:spAutoFit/>
          </a:bodyPr>
          <a:lstStyle/>
          <a:p>
            <a:endParaRPr lang="en-US" dirty="0" smtClean="0"/>
          </a:p>
          <a:p>
            <a:pPr algn="just"/>
            <a:r>
              <a:rPr lang="en-GB" sz="2400" b="1" dirty="0" smtClean="0"/>
              <a:t>Text Books</a:t>
            </a:r>
          </a:p>
          <a:p>
            <a:pPr algn="just"/>
            <a:r>
              <a:rPr lang="en-GB" sz="2400" dirty="0" smtClean="0"/>
              <a:t> 1.Thomas H. </a:t>
            </a:r>
            <a:r>
              <a:rPr lang="en-GB" sz="2400" dirty="0" err="1" smtClean="0"/>
              <a:t>Cormen</a:t>
            </a:r>
            <a:r>
              <a:rPr lang="en-GB" sz="2400" dirty="0" smtClean="0"/>
              <a:t>, Charles E. </a:t>
            </a:r>
            <a:r>
              <a:rPr lang="en-GB" sz="2400" dirty="0" err="1" smtClean="0"/>
              <a:t>Leiserson</a:t>
            </a:r>
            <a:r>
              <a:rPr lang="en-GB" sz="2400" dirty="0" smtClean="0"/>
              <a:t>, Ronald L. </a:t>
            </a:r>
            <a:r>
              <a:rPr lang="en-GB" sz="2400" dirty="0" err="1" smtClean="0"/>
              <a:t>Rivest</a:t>
            </a:r>
            <a:r>
              <a:rPr lang="en-GB" sz="2400" dirty="0" smtClean="0"/>
              <a:t>, and Clifford Stein (2003) Introduction to Algorithms and Java, 2nd edition, McGraw-Hill. </a:t>
            </a:r>
          </a:p>
          <a:p>
            <a:pPr algn="just"/>
            <a:r>
              <a:rPr lang="en-GB" sz="2400" dirty="0" smtClean="0"/>
              <a:t>2.Alfred V. </a:t>
            </a:r>
            <a:r>
              <a:rPr lang="en-GB" sz="2400" dirty="0" err="1" smtClean="0"/>
              <a:t>Aho</a:t>
            </a:r>
            <a:r>
              <a:rPr lang="en-GB" sz="2400" dirty="0" smtClean="0"/>
              <a:t>, Jeffrey D. </a:t>
            </a:r>
            <a:r>
              <a:rPr lang="en-GB" sz="2400" dirty="0" err="1" smtClean="0"/>
              <a:t>Ullman</a:t>
            </a:r>
            <a:r>
              <a:rPr lang="en-GB" sz="2400" dirty="0" smtClean="0"/>
              <a:t> and John E. </a:t>
            </a:r>
            <a:r>
              <a:rPr lang="en-GB" sz="2400" dirty="0" err="1" smtClean="0"/>
              <a:t>Hopcroft</a:t>
            </a:r>
            <a:r>
              <a:rPr lang="en-GB" sz="2400" dirty="0" smtClean="0"/>
              <a:t>, Data Structures and Algorithms, 1983, Pearson Education. 	</a:t>
            </a:r>
          </a:p>
          <a:p>
            <a:r>
              <a:rPr lang="en-GB" dirty="0" smtClean="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endParaRPr lang="en-US"/>
          </a:p>
        </p:txBody>
      </p:sp>
      <p:pic>
        <p:nvPicPr>
          <p:cNvPr id="3" name="Picture 2"/>
          <p:cNvPicPr>
            <a:picLocks noChangeAspect="1" noChangeArrowheads="1"/>
          </p:cNvPicPr>
          <p:nvPr/>
        </p:nvPicPr>
        <p:blipFill>
          <a:blip r:embed="rId2" cstate="print"/>
          <a:srcRect/>
          <a:stretch>
            <a:fillRect/>
          </a:stretch>
        </p:blipFill>
        <p:spPr bwMode="auto">
          <a:xfrm>
            <a:off x="0" y="176213"/>
            <a:ext cx="9144000" cy="650557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8839200" cy="6400799"/>
          </a:xfrm>
        </p:spPr>
        <p:txBody>
          <a:bodyPr>
            <a:normAutofit fontScale="90000"/>
          </a:bodyPr>
          <a:lstStyle/>
          <a:p>
            <a:pPr algn="l"/>
            <a:r>
              <a:rPr lang="en-GB" sz="3100" b="1" dirty="0" smtClean="0"/>
              <a:t>What is a Data Structure?</a:t>
            </a:r>
            <a:br>
              <a:rPr lang="en-GB" sz="3100" b="1" dirty="0" smtClean="0"/>
            </a:br>
            <a:r>
              <a:rPr lang="en-GB" sz="3100" dirty="0" smtClean="0"/>
              <a:t>A </a:t>
            </a:r>
            <a:r>
              <a:rPr lang="en-GB" sz="3100" b="1" dirty="0" smtClean="0"/>
              <a:t>Data Structure</a:t>
            </a:r>
            <a:r>
              <a:rPr lang="en-GB" sz="3100" dirty="0" smtClean="0"/>
              <a:t> is a method of organizing data in a computer so that it can be stored, retrieved, updated, and processed efficiently.</a:t>
            </a:r>
            <a:br>
              <a:rPr lang="en-GB" sz="3100" dirty="0" smtClean="0"/>
            </a:br>
            <a:r>
              <a:rPr lang="en-GB" sz="3100" b="1" dirty="0" smtClean="0"/>
              <a:t>Examples:</a:t>
            </a:r>
            <a:br>
              <a:rPr lang="en-GB" sz="3100" b="1" dirty="0" smtClean="0"/>
            </a:br>
            <a:r>
              <a:rPr lang="en-GB" sz="3100" dirty="0" smtClean="0"/>
              <a:t>Array </a:t>
            </a:r>
            <a:br>
              <a:rPr lang="en-GB" sz="3100" dirty="0" smtClean="0"/>
            </a:br>
            <a:r>
              <a:rPr lang="en-GB" sz="3100" dirty="0" smtClean="0"/>
              <a:t>Linked List </a:t>
            </a:r>
            <a:br>
              <a:rPr lang="en-GB" sz="3100" dirty="0" smtClean="0"/>
            </a:br>
            <a:r>
              <a:rPr lang="en-GB" sz="3100" dirty="0" smtClean="0"/>
              <a:t>Stack </a:t>
            </a:r>
            <a:br>
              <a:rPr lang="en-GB" sz="3100" dirty="0" smtClean="0"/>
            </a:br>
            <a:r>
              <a:rPr lang="en-GB" sz="3100" dirty="0" smtClean="0"/>
              <a:t>Queue </a:t>
            </a:r>
            <a:br>
              <a:rPr lang="en-GB" sz="3100" dirty="0" smtClean="0"/>
            </a:br>
            <a:r>
              <a:rPr lang="en-GB" sz="3100" dirty="0" smtClean="0"/>
              <a:t>Tree </a:t>
            </a:r>
            <a:br>
              <a:rPr lang="en-GB" sz="3100" dirty="0" smtClean="0"/>
            </a:br>
            <a:r>
              <a:rPr lang="en-GB" sz="3100" dirty="0" smtClean="0"/>
              <a:t>Graph </a:t>
            </a:r>
            <a:br>
              <a:rPr lang="en-GB" sz="3100" dirty="0" smtClean="0"/>
            </a:br>
            <a:r>
              <a:rPr lang="en-GB" sz="3100" dirty="0" smtClean="0"/>
              <a:t>Hash Table </a:t>
            </a:r>
            <a:br>
              <a:rPr lang="en-GB" sz="3100" dirty="0" smtClean="0"/>
            </a:br>
            <a:r>
              <a:rPr lang="en-GB" sz="3100" dirty="0" smtClean="0"/>
              <a:t>Each data structure has its own advantages and is suitable for solving specific types of problems.</a:t>
            </a:r>
            <a:r>
              <a:rPr lang="en-GB" dirty="0" smtClean="0"/>
              <a:t/>
            </a:r>
            <a:br>
              <a:rPr lang="en-GB" dirty="0" smtClean="0"/>
            </a:b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4191000" y="1752600"/>
            <a:ext cx="4600575" cy="33528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 y="-239036"/>
            <a:ext cx="9143999" cy="7097036"/>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cstate="print"/>
          <a:srcRect/>
          <a:stretch>
            <a:fillRect/>
          </a:stretch>
        </p:blipFill>
        <p:spPr bwMode="auto">
          <a:xfrm>
            <a:off x="1371600" y="0"/>
            <a:ext cx="6324600" cy="6510618"/>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28600"/>
            <a:ext cx="6477000" cy="6400799"/>
          </a:xfrm>
        </p:spPr>
        <p:txBody>
          <a:bodyPr>
            <a:normAutofit fontScale="90000"/>
          </a:bodyPr>
          <a:lstStyle/>
          <a:p>
            <a:pPr algn="l"/>
            <a:r>
              <a:rPr lang="en-GB" sz="2800" b="1" dirty="0" smtClean="0"/>
              <a:t/>
            </a:r>
            <a:br>
              <a:rPr lang="en-GB" sz="2800" b="1" dirty="0" smtClean="0"/>
            </a:br>
            <a:r>
              <a:rPr lang="en-GB" sz="2800" b="1" dirty="0" smtClean="0"/>
              <a:t/>
            </a:r>
            <a:br>
              <a:rPr lang="en-GB" sz="2800" b="1" dirty="0" smtClean="0"/>
            </a:br>
            <a:r>
              <a:rPr lang="en-GB" sz="2800" b="1" dirty="0" smtClean="0"/>
              <a:t/>
            </a:r>
            <a:br>
              <a:rPr lang="en-GB" sz="2800" b="1" dirty="0" smtClean="0"/>
            </a:br>
            <a:r>
              <a:rPr lang="en-GB" sz="2800" b="1" dirty="0" smtClean="0"/>
              <a:t>What is an Algorithm?</a:t>
            </a:r>
            <a:br>
              <a:rPr lang="en-GB" sz="2800" b="1" dirty="0" smtClean="0"/>
            </a:br>
            <a:r>
              <a:rPr lang="en-GB" sz="2800" dirty="0" smtClean="0"/>
              <a:t>An </a:t>
            </a:r>
            <a:r>
              <a:rPr lang="en-GB" sz="2800" b="1" dirty="0" smtClean="0"/>
              <a:t>Algorithm</a:t>
            </a:r>
            <a:r>
              <a:rPr lang="en-GB" sz="2800" dirty="0" smtClean="0"/>
              <a:t> is a finite sequence of well-defined instructions designed to solve a particular problem.</a:t>
            </a:r>
            <a:br>
              <a:rPr lang="en-GB" sz="2800" dirty="0" smtClean="0"/>
            </a:br>
            <a:r>
              <a:rPr lang="en-GB" sz="2800" b="1" dirty="0" smtClean="0"/>
              <a:t>Characteristics of an Algorithm</a:t>
            </a:r>
            <a:br>
              <a:rPr lang="en-GB" sz="2800" b="1" dirty="0" smtClean="0"/>
            </a:br>
            <a:r>
              <a:rPr lang="en-GB" sz="2800" dirty="0" smtClean="0"/>
              <a:t>Input </a:t>
            </a:r>
            <a:br>
              <a:rPr lang="en-GB" sz="2800" dirty="0" smtClean="0"/>
            </a:br>
            <a:r>
              <a:rPr lang="en-GB" sz="2800" dirty="0" smtClean="0"/>
              <a:t>Output </a:t>
            </a:r>
            <a:br>
              <a:rPr lang="en-GB" sz="2800" dirty="0" smtClean="0"/>
            </a:br>
            <a:r>
              <a:rPr lang="en-GB" sz="2800" dirty="0" smtClean="0"/>
              <a:t>Definiteness (clear steps) </a:t>
            </a:r>
            <a:br>
              <a:rPr lang="en-GB" sz="2800" dirty="0" smtClean="0"/>
            </a:br>
            <a:r>
              <a:rPr lang="en-GB" sz="2800" dirty="0" smtClean="0"/>
              <a:t>Finiteness (must terminate) </a:t>
            </a:r>
            <a:br>
              <a:rPr lang="en-GB" sz="2800" dirty="0" smtClean="0"/>
            </a:br>
            <a:r>
              <a:rPr lang="en-GB" sz="2800" dirty="0" smtClean="0"/>
              <a:t>Effectiveness (steps should be practical) </a:t>
            </a:r>
            <a:br>
              <a:rPr lang="en-GB" sz="2800" dirty="0" smtClean="0"/>
            </a:br>
            <a:r>
              <a:rPr lang="en-GB" sz="2800" b="1" dirty="0" smtClean="0"/>
              <a:t>Example</a:t>
            </a:r>
            <a:br>
              <a:rPr lang="en-GB" sz="2800" b="1" dirty="0" smtClean="0"/>
            </a:br>
            <a:r>
              <a:rPr lang="en-GB" sz="2800" b="1" dirty="0" smtClean="0"/>
              <a:t>Problem:</a:t>
            </a:r>
            <a:r>
              <a:rPr lang="en-GB" sz="2800" dirty="0" smtClean="0"/>
              <a:t> Find the largest number among three numbers.</a:t>
            </a:r>
            <a:br>
              <a:rPr lang="en-GB" sz="2800" dirty="0" smtClean="0"/>
            </a:br>
            <a:r>
              <a:rPr lang="en-GB" sz="2800" dirty="0" smtClean="0"/>
              <a:t>Algorithm:</a:t>
            </a:r>
            <a:br>
              <a:rPr lang="en-GB" sz="2800" dirty="0" smtClean="0"/>
            </a:br>
            <a:r>
              <a:rPr lang="en-GB" sz="2800" dirty="0" smtClean="0"/>
              <a:t>Read A, B, and C. </a:t>
            </a:r>
            <a:br>
              <a:rPr lang="en-GB" sz="2800" dirty="0" smtClean="0"/>
            </a:br>
            <a:r>
              <a:rPr lang="en-GB" sz="2800" dirty="0" smtClean="0"/>
              <a:t>Compare A, B, and C. </a:t>
            </a:r>
            <a:br>
              <a:rPr lang="en-GB" sz="2800" dirty="0" smtClean="0"/>
            </a:br>
            <a:r>
              <a:rPr lang="en-GB" sz="2800" dirty="0" smtClean="0"/>
              <a:t>Display the largest number. </a:t>
            </a:r>
            <a:br>
              <a:rPr lang="en-GB" sz="2800" dirty="0" smtClean="0"/>
            </a:br>
            <a:r>
              <a:rPr lang="en-GB" sz="2800" dirty="0" smtClean="0"/>
              <a:t>Stop.</a:t>
            </a:r>
            <a:br>
              <a:rPr lang="en-GB" sz="2800" dirty="0" smtClean="0"/>
            </a:br>
            <a:r>
              <a:rPr lang="en-GB" dirty="0" smtClean="0"/>
              <a:t/>
            </a:r>
            <a:br>
              <a:rPr lang="en-GB" dirty="0" smtClean="0"/>
            </a:br>
            <a:endParaRPr lang="en-US" dirty="0"/>
          </a:p>
        </p:txBody>
      </p:sp>
      <p:pic>
        <p:nvPicPr>
          <p:cNvPr id="10242" name="Picture 2"/>
          <p:cNvPicPr>
            <a:picLocks noChangeAspect="1" noChangeArrowheads="1"/>
          </p:cNvPicPr>
          <p:nvPr/>
        </p:nvPicPr>
        <p:blipFill>
          <a:blip r:embed="rId2" cstate="print"/>
          <a:srcRect/>
          <a:stretch>
            <a:fillRect/>
          </a:stretch>
        </p:blipFill>
        <p:spPr bwMode="auto">
          <a:xfrm>
            <a:off x="6534150" y="0"/>
            <a:ext cx="2609850" cy="4305137"/>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362201"/>
            <a:ext cx="8458200" cy="1905000"/>
          </a:xfrm>
        </p:spPr>
        <p:txBody>
          <a:bodyPr>
            <a:normAutofit fontScale="90000"/>
          </a:bodyPr>
          <a:lstStyle/>
          <a:p>
            <a:r>
              <a:rPr lang="en-GB" sz="2000" b="1" dirty="0" smtClean="0"/>
              <a:t/>
            </a:r>
            <a:br>
              <a:rPr lang="en-GB" sz="2000" b="1" dirty="0" smtClean="0"/>
            </a:br>
            <a:r>
              <a:rPr lang="en-GB" sz="3100" b="1" dirty="0" smtClean="0"/>
              <a:t>Applications of Data Structures and Algorithms</a:t>
            </a:r>
            <a:br>
              <a:rPr lang="en-GB" sz="3100" b="1" dirty="0" smtClean="0"/>
            </a:br>
            <a:r>
              <a:rPr lang="en-GB" sz="3100" b="1" dirty="0" smtClean="0"/>
              <a:t>1. Navigation Systems (Google Maps)</a:t>
            </a:r>
            <a:br>
              <a:rPr lang="en-GB" sz="31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smtClean="0"/>
              <a:t/>
            </a:r>
            <a:br>
              <a:rPr lang="en-GB" sz="2400" b="1" dirty="0" smtClean="0"/>
            </a:br>
            <a:r>
              <a:rPr lang="en-GB" sz="2800" dirty="0" smtClean="0"/>
              <a:t/>
            </a:r>
            <a:br>
              <a:rPr lang="en-GB" sz="2800" dirty="0" smtClean="0"/>
            </a:br>
            <a:r>
              <a:rPr lang="en-GB" dirty="0" smtClean="0"/>
              <a:t/>
            </a:r>
            <a:br>
              <a:rPr lang="en-GB" dirty="0" smtClean="0"/>
            </a:b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5181600" y="838200"/>
            <a:ext cx="3962400" cy="2841070"/>
          </a:xfrm>
          <a:prstGeom prst="rect">
            <a:avLst/>
          </a:prstGeom>
          <a:noFill/>
          <a:ln w="9525">
            <a:noFill/>
            <a:miter lim="800000"/>
            <a:headEnd/>
            <a:tailEnd/>
          </a:ln>
        </p:spPr>
      </p:pic>
      <p:sp>
        <p:nvSpPr>
          <p:cNvPr id="4" name="Rectangle 3"/>
          <p:cNvSpPr/>
          <p:nvPr/>
        </p:nvSpPr>
        <p:spPr>
          <a:xfrm>
            <a:off x="0" y="762000"/>
            <a:ext cx="5638800" cy="5693866"/>
          </a:xfrm>
          <a:prstGeom prst="rect">
            <a:avLst/>
          </a:prstGeom>
        </p:spPr>
        <p:txBody>
          <a:bodyPr wrap="square">
            <a:spAutoFit/>
          </a:bodyPr>
          <a:lstStyle/>
          <a:p>
            <a:r>
              <a:rPr lang="en-GB" sz="2800" b="1" dirty="0" smtClean="0"/>
              <a:t>Data Structure: Graph</a:t>
            </a:r>
          </a:p>
          <a:p>
            <a:r>
              <a:rPr lang="en-GB" sz="2800" dirty="0" smtClean="0"/>
              <a:t>A </a:t>
            </a:r>
            <a:r>
              <a:rPr lang="en-GB" sz="2800" b="1" dirty="0" smtClean="0"/>
              <a:t>graph</a:t>
            </a:r>
            <a:r>
              <a:rPr lang="en-GB" sz="2800" dirty="0" smtClean="0"/>
              <a:t> consists of </a:t>
            </a:r>
            <a:r>
              <a:rPr lang="en-GB" sz="2800" b="1" dirty="0" smtClean="0"/>
              <a:t>vertices (locations)</a:t>
            </a:r>
            <a:r>
              <a:rPr lang="en-GB" sz="2800" dirty="0" smtClean="0"/>
              <a:t> and </a:t>
            </a:r>
            <a:r>
              <a:rPr lang="en-GB" sz="2800" b="1" dirty="0" smtClean="0"/>
              <a:t>edges (roads connecting locations)</a:t>
            </a:r>
            <a:r>
              <a:rPr lang="en-GB" sz="2800" dirty="0" smtClean="0"/>
              <a:t>.</a:t>
            </a:r>
          </a:p>
          <a:p>
            <a:endParaRPr lang="en-GB" sz="2800" dirty="0" smtClean="0"/>
          </a:p>
          <a:p>
            <a:r>
              <a:rPr lang="en-GB" sz="2800" dirty="0" smtClean="0"/>
              <a:t>Example:</a:t>
            </a:r>
          </a:p>
          <a:p>
            <a:r>
              <a:rPr lang="en-GB" sz="2800" dirty="0" smtClean="0"/>
              <a:t>Vertex → City or Junction </a:t>
            </a:r>
          </a:p>
          <a:p>
            <a:r>
              <a:rPr lang="en-GB" sz="2800" dirty="0" smtClean="0"/>
              <a:t>Edge → Road connecting two cities </a:t>
            </a:r>
          </a:p>
          <a:p>
            <a:endParaRPr lang="en-GB" sz="2800" b="1" dirty="0" smtClean="0"/>
          </a:p>
          <a:p>
            <a:r>
              <a:rPr lang="en-GB" sz="2800" b="1" dirty="0" smtClean="0"/>
              <a:t>Algorithm: Shortest Path Algorithm</a:t>
            </a:r>
          </a:p>
          <a:p>
            <a:r>
              <a:rPr lang="en-GB" sz="2800" dirty="0" smtClean="0"/>
              <a:t>Algorithms such as </a:t>
            </a:r>
            <a:r>
              <a:rPr lang="en-GB" sz="2800" b="1" dirty="0" err="1" smtClean="0"/>
              <a:t>Dijkstra's</a:t>
            </a:r>
            <a:r>
              <a:rPr lang="en-GB" sz="2800" b="1" dirty="0" smtClean="0"/>
              <a:t> Algorithm</a:t>
            </a:r>
            <a:r>
              <a:rPr lang="en-GB" sz="2800" dirty="0" smtClean="0"/>
              <a:t> and </a:t>
            </a:r>
            <a:r>
              <a:rPr lang="en-GB" sz="2800" b="1" dirty="0" smtClean="0"/>
              <a:t>A*</a:t>
            </a:r>
            <a:r>
              <a:rPr lang="en-GB" sz="2800" dirty="0" smtClean="0"/>
              <a:t> find the shortest or fastest path between two locations.</a:t>
            </a:r>
            <a:endParaRPr lang="en-GB"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8600" y="381000"/>
            <a:ext cx="8610600" cy="5632311"/>
          </a:xfrm>
          <a:prstGeom prst="rect">
            <a:avLst/>
          </a:prstGeom>
        </p:spPr>
        <p:txBody>
          <a:bodyPr wrap="square">
            <a:spAutoFit/>
          </a:bodyPr>
          <a:lstStyle/>
          <a:p>
            <a:r>
              <a:rPr lang="en-GB" sz="2400" b="1" dirty="0" smtClean="0"/>
              <a:t>2.Data Structure: Stack</a:t>
            </a:r>
          </a:p>
          <a:p>
            <a:r>
              <a:rPr lang="en-GB" sz="2400" dirty="0" smtClean="0"/>
              <a:t>A </a:t>
            </a:r>
            <a:r>
              <a:rPr lang="en-GB" sz="2400" b="1" dirty="0" smtClean="0"/>
              <a:t>Stack</a:t>
            </a:r>
            <a:r>
              <a:rPr lang="en-GB" sz="2400" dirty="0" smtClean="0"/>
              <a:t> follows the </a:t>
            </a:r>
            <a:r>
              <a:rPr lang="en-GB" sz="2400" b="1" dirty="0" smtClean="0"/>
              <a:t>Last In First Out (LIFO)</a:t>
            </a:r>
            <a:r>
              <a:rPr lang="en-GB" sz="2400" dirty="0" smtClean="0"/>
              <a:t> principle.</a:t>
            </a:r>
          </a:p>
          <a:p>
            <a:r>
              <a:rPr lang="en-GB" sz="2400" dirty="0" smtClean="0"/>
              <a:t>Imagine:</a:t>
            </a:r>
          </a:p>
          <a:p>
            <a:r>
              <a:rPr lang="en-GB" sz="2400" dirty="0" smtClean="0"/>
              <a:t>You visit:</a:t>
            </a:r>
          </a:p>
          <a:p>
            <a:r>
              <a:rPr lang="en-GB" sz="2400" dirty="0" smtClean="0"/>
              <a:t>Google </a:t>
            </a:r>
          </a:p>
          <a:p>
            <a:r>
              <a:rPr lang="en-GB" sz="2400" dirty="0" smtClean="0"/>
              <a:t>Wikipedia </a:t>
            </a:r>
          </a:p>
          <a:p>
            <a:r>
              <a:rPr lang="en-GB" sz="2400" dirty="0" smtClean="0"/>
              <a:t>YouTube </a:t>
            </a:r>
          </a:p>
          <a:p>
            <a:r>
              <a:rPr lang="en-GB" sz="2400" dirty="0" smtClean="0"/>
              <a:t>When you press the </a:t>
            </a:r>
            <a:r>
              <a:rPr lang="en-GB" sz="2400" b="1" dirty="0" smtClean="0"/>
              <a:t>Back</a:t>
            </a:r>
            <a:r>
              <a:rPr lang="en-GB" sz="2400" dirty="0" smtClean="0"/>
              <a:t> button,</a:t>
            </a:r>
          </a:p>
          <a:p>
            <a:r>
              <a:rPr lang="en-GB" sz="2400" dirty="0" smtClean="0"/>
              <a:t>The browser returns:</a:t>
            </a:r>
          </a:p>
          <a:p>
            <a:r>
              <a:rPr lang="en-GB" sz="2400" dirty="0" smtClean="0"/>
              <a:t>YouTube → Wikipedia → Google</a:t>
            </a:r>
          </a:p>
          <a:p>
            <a:r>
              <a:rPr lang="en-GB" sz="2400" dirty="0" smtClean="0"/>
              <a:t>This is exactly how a stack works.</a:t>
            </a:r>
          </a:p>
          <a:p>
            <a:r>
              <a:rPr lang="en-GB" sz="2400" b="1" dirty="0" smtClean="0"/>
              <a:t>Algorithm: Backtracking</a:t>
            </a:r>
          </a:p>
          <a:p>
            <a:r>
              <a:rPr lang="en-GB" sz="2400" dirty="0" smtClean="0"/>
              <a:t>The browser stores visited pages in a stack.</a:t>
            </a:r>
          </a:p>
          <a:p>
            <a:r>
              <a:rPr lang="en-GB" sz="2400" dirty="0" smtClean="0"/>
              <a:t>Every new webpage is </a:t>
            </a:r>
            <a:r>
              <a:rPr lang="en-GB" sz="2400" b="1" dirty="0" smtClean="0"/>
              <a:t>pushed</a:t>
            </a:r>
            <a:r>
              <a:rPr lang="en-GB" sz="2400" dirty="0" smtClean="0"/>
              <a:t> onto the stack.</a:t>
            </a:r>
          </a:p>
          <a:p>
            <a:r>
              <a:rPr lang="en-GB" sz="2400" dirty="0" smtClean="0"/>
              <a:t>Pressing </a:t>
            </a:r>
            <a:r>
              <a:rPr lang="en-GB" sz="2400" b="1" dirty="0" smtClean="0"/>
              <a:t>Back</a:t>
            </a:r>
            <a:r>
              <a:rPr lang="en-GB" sz="2400" dirty="0" smtClean="0"/>
              <a:t> performs a </a:t>
            </a:r>
            <a:r>
              <a:rPr lang="en-GB" sz="2400" b="1" dirty="0" smtClean="0"/>
              <a:t>pop</a:t>
            </a:r>
            <a:r>
              <a:rPr lang="en-GB" sz="2400" dirty="0" smtClean="0"/>
              <a:t> operation.</a:t>
            </a:r>
            <a:endParaRPr lang="en-GB"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a:off x="381000" y="0"/>
            <a:ext cx="8325769" cy="454342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1143000" y="0"/>
            <a:ext cx="6705600" cy="6242594"/>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8600" y="381000"/>
            <a:ext cx="8610600" cy="6740307"/>
          </a:xfrm>
          <a:prstGeom prst="rect">
            <a:avLst/>
          </a:prstGeom>
        </p:spPr>
        <p:txBody>
          <a:bodyPr wrap="square">
            <a:spAutoFit/>
          </a:bodyPr>
          <a:lstStyle/>
          <a:p>
            <a:r>
              <a:rPr lang="en-US" sz="2400" b="1" dirty="0" smtClean="0"/>
              <a:t>3. Music Playlist</a:t>
            </a:r>
          </a:p>
          <a:p>
            <a:endParaRPr lang="en-US" sz="2400" dirty="0" smtClean="0"/>
          </a:p>
          <a:p>
            <a:r>
              <a:rPr lang="en-GB" sz="2400" b="1" dirty="0" smtClean="0"/>
              <a:t>Data Structure: Linked List</a:t>
            </a:r>
          </a:p>
          <a:p>
            <a:r>
              <a:rPr lang="en-GB" sz="2400" dirty="0" smtClean="0"/>
              <a:t>Each song is connected to the next song.</a:t>
            </a:r>
          </a:p>
          <a:p>
            <a:r>
              <a:rPr lang="en-GB" sz="2400" dirty="0" smtClean="0"/>
              <a:t>Example</a:t>
            </a:r>
          </a:p>
          <a:p>
            <a:r>
              <a:rPr lang="en-GB" sz="2400" dirty="0" smtClean="0"/>
              <a:t>Song A → Song B → Song C → Song D</a:t>
            </a:r>
          </a:p>
          <a:p>
            <a:r>
              <a:rPr lang="en-GB" sz="2400" dirty="0" smtClean="0"/>
              <a:t>Each song stores:</a:t>
            </a:r>
          </a:p>
          <a:p>
            <a:r>
              <a:rPr lang="en-GB" sz="2400" dirty="0" smtClean="0"/>
              <a:t>Song information </a:t>
            </a:r>
          </a:p>
          <a:p>
            <a:r>
              <a:rPr lang="en-GB" sz="2400" dirty="0" smtClean="0"/>
              <a:t>Pointer to the next song </a:t>
            </a:r>
          </a:p>
          <a:p>
            <a:r>
              <a:rPr lang="en-GB" sz="2400" b="1" dirty="0" smtClean="0"/>
              <a:t>Algorithm: Traversal</a:t>
            </a:r>
          </a:p>
          <a:p>
            <a:r>
              <a:rPr lang="en-GB" sz="2400" dirty="0" smtClean="0"/>
              <a:t>Traversal means visiting every node one after another.</a:t>
            </a:r>
          </a:p>
          <a:p>
            <a:r>
              <a:rPr lang="en-GB" sz="2400" dirty="0" smtClean="0"/>
              <a:t>When you press </a:t>
            </a:r>
            <a:r>
              <a:rPr lang="en-GB" sz="2400" b="1" dirty="0" smtClean="0"/>
              <a:t>Next Song</a:t>
            </a:r>
            <a:r>
              <a:rPr lang="en-GB" sz="2400" dirty="0" smtClean="0"/>
              <a:t>,</a:t>
            </a:r>
          </a:p>
          <a:p>
            <a:r>
              <a:rPr lang="en-GB" sz="2400" dirty="0" smtClean="0"/>
              <a:t> the player moves to the next node.</a:t>
            </a:r>
          </a:p>
          <a:p>
            <a:r>
              <a:rPr lang="en-GB" sz="2400" b="1" dirty="0" smtClean="0"/>
              <a:t>Applications</a:t>
            </a:r>
          </a:p>
          <a:p>
            <a:r>
              <a:rPr lang="en-GB" sz="2400" dirty="0" err="1" smtClean="0"/>
              <a:t>Spotify</a:t>
            </a:r>
            <a:r>
              <a:rPr lang="en-GB" sz="2400" dirty="0" smtClean="0"/>
              <a:t> </a:t>
            </a:r>
          </a:p>
          <a:p>
            <a:r>
              <a:rPr lang="en-GB" sz="2400" dirty="0" smtClean="0"/>
              <a:t>Apple Music </a:t>
            </a:r>
          </a:p>
          <a:p>
            <a:r>
              <a:rPr lang="en-GB" sz="2400" dirty="0" smtClean="0"/>
              <a:t>VLC Media Player</a:t>
            </a:r>
          </a:p>
          <a:p>
            <a:r>
              <a:rPr lang="en-GB" sz="2400" dirty="0" smtClean="0"/>
              <a:t>.</a:t>
            </a:r>
            <a:endParaRPr lang="en-GB"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381000" y="-304800"/>
            <a:ext cx="8458200" cy="3409628"/>
          </a:xfrm>
          <a:prstGeom prst="rect">
            <a:avLst/>
          </a:prstGeom>
          <a:noFill/>
          <a:ln w="9525">
            <a:noFill/>
            <a:miter lim="800000"/>
            <a:headEnd/>
            <a:tailEnd/>
          </a:ln>
        </p:spPr>
      </p:pic>
      <p:pic>
        <p:nvPicPr>
          <p:cNvPr id="5122" name="Picture 2"/>
          <p:cNvPicPr>
            <a:picLocks noChangeAspect="1" noChangeArrowheads="1"/>
          </p:cNvPicPr>
          <p:nvPr/>
        </p:nvPicPr>
        <p:blipFill>
          <a:blip r:embed="rId3" cstate="print"/>
          <a:srcRect/>
          <a:stretch>
            <a:fillRect/>
          </a:stretch>
        </p:blipFill>
        <p:spPr bwMode="auto">
          <a:xfrm>
            <a:off x="228600" y="3276600"/>
            <a:ext cx="8699157" cy="33528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3785652"/>
          </a:xfrm>
          <a:prstGeom prst="rect">
            <a:avLst/>
          </a:prstGeom>
        </p:spPr>
        <p:txBody>
          <a:bodyPr wrap="square">
            <a:spAutoFit/>
          </a:bodyPr>
          <a:lstStyle/>
          <a:p>
            <a:r>
              <a:rPr lang="en-US" sz="2400" b="1" dirty="0" smtClean="0"/>
              <a:t>4  </a:t>
            </a:r>
            <a:r>
              <a:rPr lang="en-GB" sz="2400" b="1" dirty="0" smtClean="0"/>
              <a:t>Data Structure: Tree</a:t>
            </a:r>
          </a:p>
          <a:p>
            <a:r>
              <a:rPr lang="en-GB" sz="2400" dirty="0" smtClean="0"/>
              <a:t>Banks maintain millions of customer records.</a:t>
            </a:r>
          </a:p>
          <a:p>
            <a:r>
              <a:rPr lang="en-GB" sz="2400" dirty="0" smtClean="0"/>
              <a:t>Searching every record one by one is inefficient.</a:t>
            </a:r>
          </a:p>
          <a:p>
            <a:r>
              <a:rPr lang="en-GB" sz="2400" dirty="0" smtClean="0"/>
              <a:t>Instead, records are stored in </a:t>
            </a:r>
            <a:r>
              <a:rPr lang="en-GB" sz="2400" b="1" dirty="0" smtClean="0"/>
              <a:t>Tree structures</a:t>
            </a:r>
            <a:r>
              <a:rPr lang="en-GB" sz="2400" dirty="0" smtClean="0"/>
              <a:t>.</a:t>
            </a:r>
          </a:p>
          <a:p>
            <a:r>
              <a:rPr lang="en-GB" sz="2400" dirty="0" smtClean="0"/>
              <a:t>Searching for Account 6000 requires only a few comparisons.</a:t>
            </a:r>
          </a:p>
          <a:p>
            <a:r>
              <a:rPr lang="en-GB" sz="2400" b="1" dirty="0" smtClean="0"/>
              <a:t>Algorithms</a:t>
            </a:r>
          </a:p>
          <a:p>
            <a:r>
              <a:rPr lang="en-GB" sz="2400" dirty="0" smtClean="0"/>
              <a:t>Searching </a:t>
            </a:r>
          </a:p>
          <a:p>
            <a:r>
              <a:rPr lang="en-GB" sz="2400" dirty="0" smtClean="0"/>
              <a:t>Sorting </a:t>
            </a:r>
          </a:p>
          <a:p>
            <a:endParaRPr lang="en-GB" sz="2400" dirty="0" smtClean="0"/>
          </a:p>
          <a:p>
            <a:r>
              <a:rPr lang="en-GB" sz="2400" dirty="0" smtClean="0"/>
              <a:t>.</a:t>
            </a:r>
            <a:endParaRPr lang="en-GB" sz="2400" dirty="0"/>
          </a:p>
        </p:txBody>
      </p:sp>
      <p:pic>
        <p:nvPicPr>
          <p:cNvPr id="6146" name="Picture 2"/>
          <p:cNvPicPr>
            <a:picLocks noChangeAspect="1" noChangeArrowheads="1"/>
          </p:cNvPicPr>
          <p:nvPr/>
        </p:nvPicPr>
        <p:blipFill>
          <a:blip r:embed="rId2" cstate="print"/>
          <a:srcRect/>
          <a:stretch>
            <a:fillRect/>
          </a:stretch>
        </p:blipFill>
        <p:spPr bwMode="auto">
          <a:xfrm>
            <a:off x="1723180" y="2133600"/>
            <a:ext cx="7420820" cy="47244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6740307"/>
          </a:xfrm>
          <a:prstGeom prst="rect">
            <a:avLst/>
          </a:prstGeom>
        </p:spPr>
        <p:txBody>
          <a:bodyPr wrap="square">
            <a:spAutoFit/>
          </a:bodyPr>
          <a:lstStyle/>
          <a:p>
            <a:r>
              <a:rPr lang="en-GB" sz="2400" b="1" dirty="0" smtClean="0"/>
              <a:t>5 Data Structure: Graph</a:t>
            </a:r>
          </a:p>
          <a:p>
            <a:r>
              <a:rPr lang="en-GB" sz="2400" dirty="0" smtClean="0"/>
              <a:t>Each person is a node.</a:t>
            </a:r>
          </a:p>
          <a:p>
            <a:r>
              <a:rPr lang="en-GB" sz="2400" dirty="0" smtClean="0"/>
              <a:t>Friendships are edges.</a:t>
            </a:r>
          </a:p>
          <a:p>
            <a:endParaRPr lang="en-GB" sz="2400" dirty="0" smtClean="0"/>
          </a:p>
          <a:p>
            <a:r>
              <a:rPr lang="en-GB" sz="2400" b="1" dirty="0" smtClean="0"/>
              <a:t>Recommendation Algorithms</a:t>
            </a:r>
          </a:p>
          <a:p>
            <a:r>
              <a:rPr lang="en-GB" sz="2400" dirty="0" smtClean="0"/>
              <a:t>The system recommends:</a:t>
            </a:r>
          </a:p>
          <a:p>
            <a:r>
              <a:rPr lang="en-GB" sz="2400" dirty="0" smtClean="0"/>
              <a:t>Friends </a:t>
            </a:r>
          </a:p>
          <a:p>
            <a:r>
              <a:rPr lang="en-GB" sz="2400" dirty="0" smtClean="0"/>
              <a:t>Groups </a:t>
            </a:r>
          </a:p>
          <a:p>
            <a:r>
              <a:rPr lang="en-GB" sz="2400" dirty="0" smtClean="0"/>
              <a:t>Pages </a:t>
            </a:r>
          </a:p>
          <a:p>
            <a:r>
              <a:rPr lang="en-GB" sz="2400" dirty="0" smtClean="0"/>
              <a:t>Videos </a:t>
            </a:r>
          </a:p>
          <a:p>
            <a:r>
              <a:rPr lang="en-GB" sz="2400" dirty="0" smtClean="0"/>
              <a:t>based on mutual connections.</a:t>
            </a:r>
          </a:p>
          <a:p>
            <a:r>
              <a:rPr lang="en-GB" sz="2400" b="1" dirty="0" smtClean="0"/>
              <a:t>Applications</a:t>
            </a:r>
          </a:p>
          <a:p>
            <a:r>
              <a:rPr lang="en-GB" sz="2400" dirty="0" err="1" smtClean="0"/>
              <a:t>Facebook</a:t>
            </a:r>
            <a:r>
              <a:rPr lang="en-GB" sz="2400" dirty="0" smtClean="0"/>
              <a:t> </a:t>
            </a:r>
          </a:p>
          <a:p>
            <a:r>
              <a:rPr lang="en-GB" sz="2400" dirty="0" err="1" smtClean="0"/>
              <a:t>Instagram</a:t>
            </a:r>
            <a:r>
              <a:rPr lang="en-GB" sz="2400" dirty="0" smtClean="0"/>
              <a:t> </a:t>
            </a:r>
          </a:p>
          <a:p>
            <a:r>
              <a:rPr lang="en-GB" sz="2400" dirty="0" smtClean="0"/>
              <a:t>LinkedIn</a:t>
            </a:r>
          </a:p>
          <a:p>
            <a:endParaRPr lang="en-GB" sz="2400" dirty="0" smtClean="0"/>
          </a:p>
          <a:p>
            <a:endParaRPr lang="en-GB" sz="2400" dirty="0" smtClean="0"/>
          </a:p>
          <a:p>
            <a:r>
              <a:rPr lang="en-GB" sz="2400" dirty="0" smtClean="0"/>
              <a:t>.</a:t>
            </a:r>
            <a:endParaRPr lang="en-GB" sz="2400" dirty="0"/>
          </a:p>
        </p:txBody>
      </p:sp>
      <p:pic>
        <p:nvPicPr>
          <p:cNvPr id="7170" name="Picture 2"/>
          <p:cNvPicPr>
            <a:picLocks noChangeAspect="1" noChangeArrowheads="1"/>
          </p:cNvPicPr>
          <p:nvPr/>
        </p:nvPicPr>
        <p:blipFill>
          <a:blip r:embed="rId2" cstate="print"/>
          <a:srcRect/>
          <a:stretch>
            <a:fillRect/>
          </a:stretch>
        </p:blipFill>
        <p:spPr bwMode="auto">
          <a:xfrm>
            <a:off x="4343400" y="762000"/>
            <a:ext cx="4624447" cy="54864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5632311"/>
          </a:xfrm>
          <a:prstGeom prst="rect">
            <a:avLst/>
          </a:prstGeom>
        </p:spPr>
        <p:txBody>
          <a:bodyPr wrap="square">
            <a:spAutoFit/>
          </a:bodyPr>
          <a:lstStyle/>
          <a:p>
            <a:r>
              <a:rPr lang="en-GB" sz="2400" b="1" dirty="0" smtClean="0"/>
              <a:t>6 Data Structure: Queue</a:t>
            </a:r>
          </a:p>
          <a:p>
            <a:r>
              <a:rPr lang="en-GB" sz="2400" dirty="0" smtClean="0"/>
              <a:t>Queue follows </a:t>
            </a:r>
            <a:r>
              <a:rPr lang="en-GB" sz="2400" b="1" dirty="0" smtClean="0"/>
              <a:t>First In First Out (FIFO).</a:t>
            </a:r>
            <a:endParaRPr lang="en-GB" sz="2400" dirty="0" smtClean="0"/>
          </a:p>
          <a:p>
            <a:r>
              <a:rPr lang="en-GB" sz="2400" dirty="0" smtClean="0"/>
              <a:t>Each person is a node.</a:t>
            </a:r>
          </a:p>
          <a:p>
            <a:r>
              <a:rPr lang="en-GB" sz="2400" dirty="0" smtClean="0"/>
              <a:t>Friendships are edges.</a:t>
            </a:r>
          </a:p>
          <a:p>
            <a:r>
              <a:rPr lang="en-GB" sz="2400" b="1" dirty="0" smtClean="0"/>
              <a:t>CPU Scheduling</a:t>
            </a:r>
          </a:p>
          <a:p>
            <a:r>
              <a:rPr lang="en-GB" sz="2400" dirty="0" smtClean="0"/>
              <a:t>Processes waiting for CPU execution are stored in queues.</a:t>
            </a:r>
          </a:p>
          <a:p>
            <a:r>
              <a:rPr lang="en-GB" sz="2400" dirty="0" smtClean="0"/>
              <a:t>The operating system schedules them one after another according to the scheduling policy.</a:t>
            </a:r>
          </a:p>
          <a:p>
            <a:r>
              <a:rPr lang="en-GB" sz="2400" b="1" dirty="0" smtClean="0"/>
              <a:t>Applications</a:t>
            </a:r>
          </a:p>
          <a:p>
            <a:r>
              <a:rPr lang="en-GB" sz="2400" dirty="0" smtClean="0"/>
              <a:t>CPU scheduling </a:t>
            </a:r>
          </a:p>
          <a:p>
            <a:r>
              <a:rPr lang="en-GB" sz="2400" dirty="0" smtClean="0"/>
              <a:t>Printer queue </a:t>
            </a:r>
          </a:p>
          <a:p>
            <a:r>
              <a:rPr lang="en-GB" sz="2400" dirty="0" smtClean="0"/>
              <a:t>Keyboard buffer </a:t>
            </a:r>
          </a:p>
          <a:p>
            <a:r>
              <a:rPr lang="en-GB" sz="2400" dirty="0" smtClean="0"/>
              <a:t>Task scheduling</a:t>
            </a:r>
          </a:p>
          <a:p>
            <a:endParaRPr lang="en-GB" sz="2400" dirty="0" smtClean="0"/>
          </a:p>
          <a:p>
            <a:r>
              <a:rPr lang="en-GB" sz="2400" dirty="0" smtClean="0"/>
              <a:t>.</a:t>
            </a:r>
            <a:endParaRPr lang="en-GB" sz="2400" dirty="0"/>
          </a:p>
        </p:txBody>
      </p:sp>
      <p:pic>
        <p:nvPicPr>
          <p:cNvPr id="8194" name="Picture 2"/>
          <p:cNvPicPr>
            <a:picLocks noChangeAspect="1" noChangeArrowheads="1"/>
          </p:cNvPicPr>
          <p:nvPr/>
        </p:nvPicPr>
        <p:blipFill>
          <a:blip r:embed="rId2" cstate="print"/>
          <a:srcRect/>
          <a:stretch>
            <a:fillRect/>
          </a:stretch>
        </p:blipFill>
        <p:spPr bwMode="auto">
          <a:xfrm>
            <a:off x="2514600" y="3124200"/>
            <a:ext cx="6629400" cy="37338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pic>
        <p:nvPicPr>
          <p:cNvPr id="11266" name="Picture 2"/>
          <p:cNvPicPr>
            <a:picLocks noChangeAspect="1" noChangeArrowheads="1"/>
          </p:cNvPicPr>
          <p:nvPr/>
        </p:nvPicPr>
        <p:blipFill>
          <a:blip r:embed="rId2" cstate="print"/>
          <a:srcRect/>
          <a:stretch>
            <a:fillRect/>
          </a:stretch>
        </p:blipFill>
        <p:spPr bwMode="auto">
          <a:xfrm>
            <a:off x="1447800" y="0"/>
            <a:ext cx="6400800" cy="6739354"/>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609600" y="2133600"/>
            <a:ext cx="8036815" cy="584775"/>
          </a:xfrm>
          <a:prstGeom prst="rect">
            <a:avLst/>
          </a:prstGeom>
        </p:spPr>
        <p:txBody>
          <a:bodyPr wrap="none">
            <a:spAutoFit/>
          </a:bodyPr>
          <a:lstStyle/>
          <a:p>
            <a:r>
              <a:rPr lang="en-GB" sz="3200" dirty="0" smtClean="0"/>
              <a:t>Importance of algorithms and data structures? </a:t>
            </a:r>
            <a:endParaRPr lang="en-US" sz="3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228600" y="0"/>
            <a:ext cx="8534400" cy="6986528"/>
          </a:xfrm>
          <a:prstGeom prst="rect">
            <a:avLst/>
          </a:prstGeom>
        </p:spPr>
        <p:txBody>
          <a:bodyPr wrap="square">
            <a:spAutoFit/>
          </a:bodyPr>
          <a:lstStyle/>
          <a:p>
            <a:r>
              <a:rPr lang="en-GB" sz="3200" b="1" dirty="0" smtClean="0"/>
              <a:t>1. Organize Data Efficiently</a:t>
            </a:r>
          </a:p>
          <a:p>
            <a:r>
              <a:rPr lang="en-GB" sz="3200" dirty="0" smtClean="0"/>
              <a:t>A well-organized data structure makes information easy to find and update.</a:t>
            </a:r>
          </a:p>
          <a:p>
            <a:r>
              <a:rPr lang="en-GB" sz="3200" b="1" dirty="0" smtClean="0"/>
              <a:t>Example:</a:t>
            </a:r>
            <a:r>
              <a:rPr lang="en-GB" sz="3200" dirty="0" smtClean="0"/>
              <a:t/>
            </a:r>
            <a:br>
              <a:rPr lang="en-GB" sz="3200" dirty="0" smtClean="0"/>
            </a:br>
            <a:r>
              <a:rPr lang="en-GB" sz="3200" dirty="0" smtClean="0"/>
              <a:t>A library arranges books by category and author. Finding a book takes only a few minutes.</a:t>
            </a:r>
          </a:p>
          <a:p>
            <a:r>
              <a:rPr lang="en-GB" sz="3200" b="1" dirty="0" smtClean="0"/>
              <a:t>2. Save Time</a:t>
            </a:r>
          </a:p>
          <a:p>
            <a:r>
              <a:rPr lang="en-GB" sz="3200" dirty="0" smtClean="0"/>
              <a:t>Efficient data structures reduce the time required to perform operations.</a:t>
            </a:r>
          </a:p>
          <a:p>
            <a:r>
              <a:rPr lang="en-GB" sz="3200" b="1" dirty="0" smtClean="0"/>
              <a:t>Example:</a:t>
            </a:r>
            <a:r>
              <a:rPr lang="en-GB" sz="3200" dirty="0" smtClean="0"/>
              <a:t/>
            </a:r>
            <a:br>
              <a:rPr lang="en-GB" sz="3200" dirty="0" smtClean="0"/>
            </a:br>
            <a:r>
              <a:rPr lang="en-GB" sz="3200" dirty="0" smtClean="0"/>
              <a:t>Searching for a student's roll number in:</a:t>
            </a:r>
          </a:p>
          <a:p>
            <a:r>
              <a:rPr lang="en-GB" sz="3200" dirty="0" smtClean="0"/>
              <a:t>An unsorted list of 100 students may require checking many entries. </a:t>
            </a:r>
          </a:p>
          <a:p>
            <a:r>
              <a:rPr lang="en-GB" sz="3200" dirty="0" smtClean="0"/>
              <a:t>A sorted list can be searched much faster.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0" y="0"/>
            <a:ext cx="9144000" cy="7355860"/>
          </a:xfrm>
          <a:prstGeom prst="rect">
            <a:avLst/>
          </a:prstGeom>
        </p:spPr>
        <p:txBody>
          <a:bodyPr wrap="square">
            <a:spAutoFit/>
          </a:bodyPr>
          <a:lstStyle/>
          <a:p>
            <a:r>
              <a:rPr lang="en-GB" sz="3200" b="1" dirty="0" smtClean="0"/>
              <a:t>3. Save Memory</a:t>
            </a:r>
          </a:p>
          <a:p>
            <a:r>
              <a:rPr lang="en-GB" sz="3200" dirty="0" smtClean="0"/>
              <a:t>Good data structures use computer memory efficiently.</a:t>
            </a:r>
          </a:p>
          <a:p>
            <a:r>
              <a:rPr lang="en-GB" sz="3200" b="1" dirty="0" smtClean="0"/>
              <a:t>Example:</a:t>
            </a:r>
            <a:r>
              <a:rPr lang="en-GB" sz="3200" dirty="0" smtClean="0"/>
              <a:t/>
            </a:r>
            <a:br>
              <a:rPr lang="en-GB" sz="3200" dirty="0" smtClean="0"/>
            </a:br>
            <a:r>
              <a:rPr lang="en-GB" sz="2800" dirty="0" smtClean="0"/>
              <a:t>Instead of storing unnecessary duplicate data, we </a:t>
            </a:r>
            <a:r>
              <a:rPr lang="en-GB" sz="3200" dirty="0" smtClean="0"/>
              <a:t>store only </a:t>
            </a:r>
            <a:r>
              <a:rPr lang="en-GB" sz="2800" dirty="0" smtClean="0"/>
              <a:t>what is needed.</a:t>
            </a:r>
          </a:p>
          <a:p>
            <a:r>
              <a:rPr lang="en-GB" sz="2800" b="1" dirty="0" smtClean="0"/>
              <a:t>4. Handle Large Data</a:t>
            </a:r>
          </a:p>
          <a:p>
            <a:r>
              <a:rPr lang="en-GB" sz="2800" dirty="0" smtClean="0"/>
              <a:t>Modern applications process millions or even billions of records.</a:t>
            </a:r>
          </a:p>
          <a:p>
            <a:r>
              <a:rPr lang="en-GB" sz="2800" dirty="0" smtClean="0"/>
              <a:t>Examples:</a:t>
            </a:r>
          </a:p>
          <a:p>
            <a:r>
              <a:rPr lang="en-GB" sz="2800" dirty="0" err="1" smtClean="0"/>
              <a:t>Instagram</a:t>
            </a:r>
            <a:r>
              <a:rPr lang="en-GB" sz="2800" dirty="0" smtClean="0"/>
              <a:t> stores billions of photos. </a:t>
            </a:r>
          </a:p>
          <a:p>
            <a:r>
              <a:rPr lang="en-GB" sz="2800" dirty="0" smtClean="0"/>
              <a:t>Google indexes billions of </a:t>
            </a:r>
            <a:r>
              <a:rPr lang="en-GB" sz="2800" dirty="0" err="1" smtClean="0"/>
              <a:t>webpages</a:t>
            </a:r>
            <a:r>
              <a:rPr lang="en-GB" sz="2800" dirty="0" smtClean="0"/>
              <a:t>. </a:t>
            </a:r>
          </a:p>
          <a:p>
            <a:r>
              <a:rPr lang="en-GB" sz="2800" dirty="0" smtClean="0"/>
              <a:t>Amazon manages millions of products. </a:t>
            </a:r>
          </a:p>
          <a:p>
            <a:r>
              <a:rPr lang="en-GB" sz="2800" dirty="0" smtClean="0"/>
              <a:t>Without proper data structures, these applications would become very slow.</a:t>
            </a:r>
          </a:p>
          <a:p>
            <a:endParaRPr lang="en-GB" sz="3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5" name="Rectangle 4"/>
          <p:cNvSpPr/>
          <p:nvPr/>
        </p:nvSpPr>
        <p:spPr>
          <a:xfrm>
            <a:off x="0" y="0"/>
            <a:ext cx="9144000" cy="5970865"/>
          </a:xfrm>
          <a:prstGeom prst="rect">
            <a:avLst/>
          </a:prstGeom>
        </p:spPr>
        <p:txBody>
          <a:bodyPr wrap="square">
            <a:spAutoFit/>
          </a:bodyPr>
          <a:lstStyle/>
          <a:p>
            <a:r>
              <a:rPr lang="en-GB" sz="2800" b="1" dirty="0" smtClean="0"/>
              <a:t>                                Abstract Data Type (ADT)</a:t>
            </a:r>
            <a:r>
              <a:rPr lang="en-GB" sz="2800" dirty="0" smtClean="0"/>
              <a:t> </a:t>
            </a:r>
          </a:p>
          <a:p>
            <a:r>
              <a:rPr lang="en-GB" sz="2800" dirty="0" smtClean="0"/>
              <a:t>ADT is a </a:t>
            </a:r>
            <a:r>
              <a:rPr lang="en-GB" sz="2800" b="1" dirty="0" smtClean="0"/>
              <a:t>logical description of a data structure</a:t>
            </a:r>
            <a:r>
              <a:rPr lang="en-GB" sz="2800" dirty="0" smtClean="0"/>
              <a:t> that specifies </a:t>
            </a:r>
            <a:r>
              <a:rPr lang="en-GB" sz="2800" b="1" dirty="0" smtClean="0"/>
              <a:t>what operations can be performed</a:t>
            </a:r>
            <a:r>
              <a:rPr lang="en-GB" sz="2800" dirty="0" smtClean="0"/>
              <a:t> on the data, </a:t>
            </a:r>
            <a:r>
              <a:rPr lang="en-GB" sz="2800" b="1" dirty="0" smtClean="0"/>
              <a:t>without explaining how those operations are implemented</a:t>
            </a:r>
            <a:r>
              <a:rPr lang="en-GB" sz="2800" dirty="0" smtClean="0"/>
              <a:t>.</a:t>
            </a:r>
          </a:p>
          <a:p>
            <a:endParaRPr lang="en-GB" sz="2800" dirty="0" smtClean="0"/>
          </a:p>
          <a:p>
            <a:endParaRPr lang="en-GB" sz="2800" dirty="0" smtClean="0"/>
          </a:p>
          <a:p>
            <a:r>
              <a:rPr lang="en-GB" sz="2800" dirty="0" smtClean="0"/>
              <a:t>An </a:t>
            </a:r>
            <a:r>
              <a:rPr lang="en-GB" sz="2800" b="1" dirty="0" smtClean="0"/>
              <a:t>ADT</a:t>
            </a:r>
            <a:r>
              <a:rPr lang="en-GB" sz="2800" dirty="0" smtClean="0"/>
              <a:t> defines:</a:t>
            </a:r>
          </a:p>
          <a:p>
            <a:r>
              <a:rPr lang="en-GB" sz="2800" b="1" dirty="0" smtClean="0"/>
              <a:t>What operations</a:t>
            </a:r>
            <a:r>
              <a:rPr lang="en-GB" sz="2800" dirty="0" smtClean="0"/>
              <a:t> can be performed on the data. </a:t>
            </a:r>
          </a:p>
          <a:p>
            <a:r>
              <a:rPr lang="en-GB" sz="2800" dirty="0" smtClean="0"/>
              <a:t>It does </a:t>
            </a:r>
            <a:r>
              <a:rPr lang="en-GB" sz="2800" b="1" dirty="0" smtClean="0"/>
              <a:t>not</a:t>
            </a:r>
            <a:r>
              <a:rPr lang="en-GB" sz="2800" dirty="0" smtClean="0"/>
              <a:t> specify how the data is stored. </a:t>
            </a:r>
          </a:p>
          <a:p>
            <a:endParaRPr lang="en-GB" sz="2800" dirty="0" smtClean="0"/>
          </a:p>
          <a:p>
            <a:endParaRPr lang="en-GB" sz="2800" dirty="0" smtClean="0"/>
          </a:p>
          <a:p>
            <a:r>
              <a:rPr lang="en-GB" sz="2800" dirty="0" smtClean="0"/>
              <a:t>A </a:t>
            </a:r>
            <a:r>
              <a:rPr lang="en-GB" sz="2800" b="1" dirty="0" smtClean="0"/>
              <a:t>data structure</a:t>
            </a:r>
            <a:r>
              <a:rPr lang="en-GB" sz="2800" dirty="0" smtClean="0"/>
              <a:t> defines:</a:t>
            </a:r>
          </a:p>
          <a:p>
            <a:r>
              <a:rPr lang="en-GB" sz="2800" b="1" dirty="0" smtClean="0"/>
              <a:t>How the data is actually stored and organized in memory.</a:t>
            </a:r>
            <a:endParaRPr lang="en-GB" sz="2800" dirty="0" smtClean="0"/>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5" name="Rectangle 4"/>
          <p:cNvSpPr/>
          <p:nvPr/>
        </p:nvSpPr>
        <p:spPr>
          <a:xfrm>
            <a:off x="0" y="0"/>
            <a:ext cx="9144000" cy="7263527"/>
          </a:xfrm>
          <a:prstGeom prst="rect">
            <a:avLst/>
          </a:prstGeom>
        </p:spPr>
        <p:txBody>
          <a:bodyPr wrap="square">
            <a:spAutoFit/>
          </a:bodyPr>
          <a:lstStyle/>
          <a:p>
            <a:pPr algn="ctr"/>
            <a:r>
              <a:rPr lang="en-GB" sz="2800" b="1" dirty="0" smtClean="0"/>
              <a:t>Operations </a:t>
            </a:r>
          </a:p>
          <a:p>
            <a:endParaRPr lang="en-GB" sz="2800" b="1" dirty="0" smtClean="0"/>
          </a:p>
          <a:p>
            <a:r>
              <a:rPr lang="en-GB" sz="2800" b="1" dirty="0" smtClean="0"/>
              <a:t>Stack ADT</a:t>
            </a:r>
          </a:p>
          <a:p>
            <a:r>
              <a:rPr lang="en-GB" sz="2800" dirty="0" smtClean="0"/>
              <a:t>Operations:</a:t>
            </a:r>
          </a:p>
          <a:p>
            <a:r>
              <a:rPr lang="en-GB" sz="2800" dirty="0" smtClean="0"/>
              <a:t>Push() </a:t>
            </a:r>
          </a:p>
          <a:p>
            <a:r>
              <a:rPr lang="en-GB" sz="2800" dirty="0" smtClean="0"/>
              <a:t>Pop() </a:t>
            </a:r>
          </a:p>
          <a:p>
            <a:r>
              <a:rPr lang="en-GB" sz="2800" dirty="0" smtClean="0"/>
              <a:t>Peek() </a:t>
            </a:r>
          </a:p>
          <a:p>
            <a:r>
              <a:rPr lang="en-GB" sz="2800" dirty="0" err="1" smtClean="0"/>
              <a:t>IsEmpty</a:t>
            </a:r>
            <a:r>
              <a:rPr lang="en-GB" sz="2800" dirty="0" smtClean="0"/>
              <a:t>()</a:t>
            </a:r>
          </a:p>
          <a:p>
            <a:endParaRPr lang="en-GB" sz="2800" dirty="0" smtClean="0"/>
          </a:p>
          <a:p>
            <a:r>
              <a:rPr lang="fr-FR" sz="2800" b="1" dirty="0" smtClean="0"/>
              <a:t>Queue</a:t>
            </a:r>
          </a:p>
          <a:p>
            <a:r>
              <a:rPr lang="fr-FR" sz="2800" dirty="0" smtClean="0"/>
              <a:t>Operations:</a:t>
            </a:r>
          </a:p>
          <a:p>
            <a:r>
              <a:rPr lang="fr-FR" sz="2800" dirty="0" err="1" smtClean="0"/>
              <a:t>Enqueue</a:t>
            </a:r>
            <a:r>
              <a:rPr lang="fr-FR" sz="2800" dirty="0" smtClean="0"/>
              <a:t>() </a:t>
            </a:r>
          </a:p>
          <a:p>
            <a:r>
              <a:rPr lang="fr-FR" sz="2800" dirty="0" err="1" smtClean="0"/>
              <a:t>Dequeue</a:t>
            </a:r>
            <a:r>
              <a:rPr lang="fr-FR" sz="2800" dirty="0" smtClean="0"/>
              <a:t>() </a:t>
            </a:r>
          </a:p>
          <a:p>
            <a:r>
              <a:rPr lang="fr-FR" sz="2800" dirty="0" smtClean="0"/>
              <a:t>Front() </a:t>
            </a:r>
          </a:p>
          <a:p>
            <a:r>
              <a:rPr lang="fr-FR" sz="2800" dirty="0" err="1" smtClean="0"/>
              <a:t>Rear</a:t>
            </a:r>
            <a:r>
              <a:rPr lang="fr-FR" sz="2800" dirty="0" smtClean="0"/>
              <a:t>()</a:t>
            </a:r>
          </a:p>
          <a:p>
            <a:endParaRPr lang="en-GB" sz="2800" dirty="0" smtClean="0"/>
          </a:p>
          <a:p>
            <a:endParaRPr lang="en-US" dirty="0"/>
          </a:p>
        </p:txBody>
      </p:sp>
      <p:sp>
        <p:nvSpPr>
          <p:cNvPr id="4" name="Rectangle 3"/>
          <p:cNvSpPr/>
          <p:nvPr/>
        </p:nvSpPr>
        <p:spPr>
          <a:xfrm>
            <a:off x="2971800" y="685800"/>
            <a:ext cx="3048000" cy="2677656"/>
          </a:xfrm>
          <a:prstGeom prst="rect">
            <a:avLst/>
          </a:prstGeom>
        </p:spPr>
        <p:txBody>
          <a:bodyPr wrap="square">
            <a:spAutoFit/>
          </a:bodyPr>
          <a:lstStyle/>
          <a:p>
            <a:r>
              <a:rPr lang="en-GB" sz="2800" b="1" dirty="0" smtClean="0"/>
              <a:t>List ADT</a:t>
            </a:r>
            <a:r>
              <a:rPr lang="en-GB" sz="2800" dirty="0" smtClean="0"/>
              <a:t>.</a:t>
            </a:r>
          </a:p>
          <a:p>
            <a:r>
              <a:rPr lang="en-GB" sz="2800" dirty="0" smtClean="0"/>
              <a:t>Add an element </a:t>
            </a:r>
          </a:p>
          <a:p>
            <a:r>
              <a:rPr lang="en-GB" sz="2800" dirty="0" smtClean="0"/>
              <a:t>Delete an element </a:t>
            </a:r>
          </a:p>
          <a:p>
            <a:r>
              <a:rPr lang="en-GB" sz="2800" dirty="0" smtClean="0"/>
              <a:t>Search for an element </a:t>
            </a:r>
          </a:p>
          <a:p>
            <a:r>
              <a:rPr lang="en-GB" sz="2800" dirty="0" smtClean="0"/>
              <a:t>Update an element</a:t>
            </a:r>
            <a:endParaRPr lang="en-GB" sz="2800" dirty="0"/>
          </a:p>
        </p:txBody>
      </p:sp>
      <p:graphicFrame>
        <p:nvGraphicFramePr>
          <p:cNvPr id="7" name="Table 6"/>
          <p:cNvGraphicFramePr>
            <a:graphicFrameLocks noGrp="1"/>
          </p:cNvGraphicFramePr>
          <p:nvPr/>
        </p:nvGraphicFramePr>
        <p:xfrm>
          <a:off x="5715000" y="609600"/>
          <a:ext cx="3048000" cy="3078480"/>
        </p:xfrm>
        <a:graphic>
          <a:graphicData uri="http://schemas.openxmlformats.org/drawingml/2006/table">
            <a:tbl>
              <a:tblPr/>
              <a:tblGrid>
                <a:gridCol w="1524000"/>
                <a:gridCol w="1524000"/>
              </a:tblGrid>
              <a:tr h="1752600">
                <a:tc>
                  <a:txBody>
                    <a:bodyPr/>
                    <a:lstStyle/>
                    <a:p>
                      <a:endParaRPr lang="en-US" sz="2800" dirty="0"/>
                    </a:p>
                  </a:txBody>
                  <a:tcPr anchor="ctr">
                    <a:lnL>
                      <a:noFill/>
                    </a:lnL>
                    <a:lnR>
                      <a:noFill/>
                    </a:lnR>
                    <a:lnT>
                      <a:noFill/>
                    </a:lnT>
                    <a:lnB>
                      <a:noFill/>
                    </a:lnB>
                  </a:tcPr>
                </a:tc>
                <a:tc>
                  <a:txBody>
                    <a:bodyPr/>
                    <a:lstStyle/>
                    <a:p>
                      <a:r>
                        <a:rPr lang="en-GB" sz="2800" b="1" dirty="0" smtClean="0"/>
                        <a:t>Trees</a:t>
                      </a:r>
                    </a:p>
                    <a:p>
                      <a:r>
                        <a:rPr lang="en-GB" sz="2800" dirty="0" smtClean="0"/>
                        <a:t>Insert</a:t>
                      </a:r>
                      <a:r>
                        <a:rPr lang="en-GB" sz="2800" dirty="0"/>
                        <a:t>, Delete, Search, Traverse, Height, Depth</a:t>
                      </a:r>
                    </a:p>
                  </a:txBody>
                  <a:tcPr anchor="ctr">
                    <a:lnL>
                      <a:noFill/>
                    </a:lnL>
                    <a:lnR>
                      <a:noFill/>
                    </a:lnR>
                    <a:lnT>
                      <a:noFill/>
                    </a:lnT>
                    <a:lnB>
                      <a:noFill/>
                    </a:lnB>
                  </a:tcPr>
                </a:tc>
              </a:tr>
            </a:tbl>
          </a:graphicData>
        </a:graphic>
      </p:graphicFrame>
      <p:graphicFrame>
        <p:nvGraphicFramePr>
          <p:cNvPr id="8" name="Table 7"/>
          <p:cNvGraphicFramePr>
            <a:graphicFrameLocks noGrp="1"/>
          </p:cNvGraphicFramePr>
          <p:nvPr/>
        </p:nvGraphicFramePr>
        <p:xfrm>
          <a:off x="609600" y="3505200"/>
          <a:ext cx="5181600" cy="2651760"/>
        </p:xfrm>
        <a:graphic>
          <a:graphicData uri="http://schemas.openxmlformats.org/drawingml/2006/table">
            <a:tbl>
              <a:tblPr/>
              <a:tblGrid>
                <a:gridCol w="2590800"/>
                <a:gridCol w="2590800"/>
              </a:tblGrid>
              <a:tr h="2514600">
                <a:tc>
                  <a:txBody>
                    <a:bodyPr/>
                    <a:lstStyle/>
                    <a:p>
                      <a:r>
                        <a:rPr lang="en-US" sz="2400" dirty="0" smtClean="0"/>
                        <a:t> </a:t>
                      </a:r>
                      <a:endParaRPr lang="en-US" sz="2400" dirty="0"/>
                    </a:p>
                  </a:txBody>
                  <a:tcPr anchor="ctr">
                    <a:lnL>
                      <a:noFill/>
                    </a:lnL>
                    <a:lnR>
                      <a:noFill/>
                    </a:lnR>
                    <a:lnT>
                      <a:noFill/>
                    </a:lnT>
                    <a:lnB>
                      <a:noFill/>
                    </a:lnB>
                  </a:tcPr>
                </a:tc>
                <a:tc>
                  <a:txBody>
                    <a:bodyPr/>
                    <a:lstStyle/>
                    <a:p>
                      <a:endParaRPr lang="en-GB" sz="2800" b="1" dirty="0" smtClean="0"/>
                    </a:p>
                    <a:p>
                      <a:r>
                        <a:rPr lang="en-GB" sz="2800" b="1" dirty="0" smtClean="0"/>
                        <a:t>Graphs</a:t>
                      </a:r>
                      <a:endParaRPr lang="en-US" sz="2800" b="1" dirty="0" smtClean="0"/>
                    </a:p>
                    <a:p>
                      <a:r>
                        <a:rPr lang="en-US" sz="2800" dirty="0" smtClean="0"/>
                        <a:t>Add </a:t>
                      </a:r>
                      <a:r>
                        <a:rPr lang="en-US" sz="2800" dirty="0"/>
                        <a:t>Vertex, Add Edge, Delete Vertex, Delete Edge, BFS, DFS</a:t>
                      </a:r>
                    </a:p>
                  </a:txBody>
                  <a:tcPr anchor="ctr">
                    <a:lnL>
                      <a:noFill/>
                    </a:lnL>
                    <a:lnR>
                      <a:noFill/>
                    </a:lnR>
                    <a:lnT>
                      <a:noFill/>
                    </a:lnT>
                    <a:lnB>
                      <a:noFill/>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6124754"/>
          </a:xfrm>
          <a:prstGeom prst="rect">
            <a:avLst/>
          </a:prstGeom>
        </p:spPr>
        <p:txBody>
          <a:bodyPr wrap="square">
            <a:spAutoFit/>
          </a:bodyPr>
          <a:lstStyle/>
          <a:p>
            <a:r>
              <a:rPr lang="en-GB" sz="2800" b="1" dirty="0" smtClean="0"/>
              <a:t>              Fundamentals of Algorithm analysis </a:t>
            </a:r>
          </a:p>
          <a:p>
            <a:endParaRPr lang="en-GB" sz="2800" dirty="0" smtClean="0"/>
          </a:p>
          <a:p>
            <a:r>
              <a:rPr lang="en-GB" sz="2800" dirty="0" smtClean="0"/>
              <a:t>It is the process of evaluating an algorithm to determine </a:t>
            </a:r>
            <a:r>
              <a:rPr lang="en-GB" sz="2800" b="1" dirty="0" smtClean="0"/>
              <a:t>how efficient it is</a:t>
            </a:r>
            <a:r>
              <a:rPr lang="en-GB" sz="2800" dirty="0" smtClean="0"/>
              <a:t> in terms of </a:t>
            </a:r>
            <a:r>
              <a:rPr lang="en-GB" sz="2800" b="1" dirty="0" smtClean="0"/>
              <a:t>time</a:t>
            </a:r>
            <a:r>
              <a:rPr lang="en-GB" sz="2800" dirty="0" smtClean="0"/>
              <a:t> and </a:t>
            </a:r>
            <a:r>
              <a:rPr lang="en-GB" sz="2800" b="1" dirty="0" smtClean="0"/>
              <a:t>memory</a:t>
            </a:r>
            <a:r>
              <a:rPr lang="en-GB" sz="2800" dirty="0" smtClean="0"/>
              <a:t>. </a:t>
            </a:r>
          </a:p>
          <a:p>
            <a:endParaRPr lang="en-GB" sz="2800" dirty="0" smtClean="0"/>
          </a:p>
          <a:p>
            <a:r>
              <a:rPr lang="en-GB" sz="2800" dirty="0" smtClean="0"/>
              <a:t>Instead of asking </a:t>
            </a:r>
            <a:r>
              <a:rPr lang="en-GB" sz="2800" i="1" dirty="0" smtClean="0"/>
              <a:t>"Does the algorithm work?"</a:t>
            </a:r>
            <a:r>
              <a:rPr lang="en-GB" sz="2800" dirty="0" smtClean="0"/>
              <a:t>, </a:t>
            </a:r>
          </a:p>
          <a:p>
            <a:endParaRPr lang="en-GB" sz="2800" dirty="0" smtClean="0"/>
          </a:p>
          <a:p>
            <a:r>
              <a:rPr lang="en-GB" sz="2800" dirty="0" smtClean="0"/>
              <a:t>algorithm analysis asks:</a:t>
            </a:r>
          </a:p>
          <a:p>
            <a:endParaRPr lang="en-GB" sz="2800" dirty="0" smtClean="0"/>
          </a:p>
          <a:p>
            <a:r>
              <a:rPr lang="en-GB" sz="2800" b="1" dirty="0" smtClean="0"/>
              <a:t>How fast does it work?</a:t>
            </a:r>
            <a:r>
              <a:rPr lang="en-GB" sz="2800" dirty="0" smtClean="0"/>
              <a:t> </a:t>
            </a:r>
          </a:p>
          <a:p>
            <a:r>
              <a:rPr lang="en-GB" sz="2800" b="1" dirty="0" smtClean="0"/>
              <a:t>How much memory does it use?</a:t>
            </a:r>
            <a:r>
              <a:rPr lang="en-GB" sz="2800" dirty="0" smtClean="0"/>
              <a:t> </a:t>
            </a:r>
          </a:p>
          <a:p>
            <a:r>
              <a:rPr lang="en-GB" sz="2800" b="1" dirty="0" smtClean="0"/>
              <a:t>Will it still perform well when the input becomes very large?</a:t>
            </a:r>
            <a:endParaRPr lang="en-GB" sz="2800" dirty="0" smtClean="0"/>
          </a:p>
          <a:p>
            <a:endParaRPr lang="en-GB"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954107"/>
          </a:xfrm>
          <a:prstGeom prst="rect">
            <a:avLst/>
          </a:prstGeom>
        </p:spPr>
        <p:txBody>
          <a:bodyPr wrap="square">
            <a:spAutoFit/>
          </a:bodyPr>
          <a:lstStyle/>
          <a:p>
            <a:r>
              <a:rPr lang="en-GB" sz="2800" b="1" dirty="0" smtClean="0"/>
              <a:t>              Fundamentals of Algorithm analysis </a:t>
            </a:r>
          </a:p>
          <a:p>
            <a:endParaRPr lang="en-GB" sz="2800" dirty="0" smtClean="0"/>
          </a:p>
        </p:txBody>
      </p:sp>
      <p:pic>
        <p:nvPicPr>
          <p:cNvPr id="1026" name="Picture 2"/>
          <p:cNvPicPr>
            <a:picLocks noChangeAspect="1" noChangeArrowheads="1"/>
          </p:cNvPicPr>
          <p:nvPr/>
        </p:nvPicPr>
        <p:blipFill>
          <a:blip r:embed="rId2" cstate="print"/>
          <a:srcRect/>
          <a:stretch>
            <a:fillRect/>
          </a:stretch>
        </p:blipFill>
        <p:spPr bwMode="auto">
          <a:xfrm>
            <a:off x="0" y="990600"/>
            <a:ext cx="8846414" cy="457200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954107"/>
          </a:xfrm>
          <a:prstGeom prst="rect">
            <a:avLst/>
          </a:prstGeom>
        </p:spPr>
        <p:txBody>
          <a:bodyPr wrap="square">
            <a:spAutoFit/>
          </a:bodyPr>
          <a:lstStyle/>
          <a:p>
            <a:r>
              <a:rPr lang="en-GB" sz="2800" b="1" dirty="0" smtClean="0"/>
              <a:t>              Fundamentals of Algorithm analysis </a:t>
            </a:r>
          </a:p>
          <a:p>
            <a:endParaRPr lang="en-GB" sz="2800" dirty="0" smtClean="0"/>
          </a:p>
        </p:txBody>
      </p:sp>
      <p:pic>
        <p:nvPicPr>
          <p:cNvPr id="4098" name="Picture 2"/>
          <p:cNvPicPr>
            <a:picLocks noChangeAspect="1" noChangeArrowheads="1"/>
          </p:cNvPicPr>
          <p:nvPr/>
        </p:nvPicPr>
        <p:blipFill>
          <a:blip r:embed="rId2" cstate="print"/>
          <a:srcRect/>
          <a:stretch>
            <a:fillRect/>
          </a:stretch>
        </p:blipFill>
        <p:spPr bwMode="auto">
          <a:xfrm>
            <a:off x="457200" y="990600"/>
            <a:ext cx="8444366" cy="441960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sp>
        <p:nvSpPr>
          <p:cNvPr id="49153" name="Rectangle 1"/>
          <p:cNvSpPr>
            <a:spLocks noChangeArrowheads="1"/>
          </p:cNvSpPr>
          <p:nvPr/>
        </p:nvSpPr>
        <p:spPr bwMode="auto">
          <a:xfrm>
            <a:off x="381000" y="-155495"/>
            <a:ext cx="8610600" cy="19389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pitchFamily="34" charset="0"/>
                <a:cs typeface="Arial" pitchFamily="34" charset="0"/>
              </a:rPr>
              <a:t>Space Complexity</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pitchFamily="34" charset="0"/>
                <a:cs typeface="Arial" pitchFamily="34" charset="0"/>
              </a:rPr>
              <a:t>Space complexity is the amount of memory an algorithm requires to execute as the input size (n) increases.</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
        <p:nvSpPr>
          <p:cNvPr id="49154" name="Rectangle 2"/>
          <p:cNvSpPr>
            <a:spLocks noChangeArrowheads="1"/>
          </p:cNvSpPr>
          <p:nvPr/>
        </p:nvSpPr>
        <p:spPr bwMode="auto">
          <a:xfrm>
            <a:off x="304800" y="1535668"/>
            <a:ext cx="5638800" cy="304698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pitchFamily="34" charset="0"/>
                <a:cs typeface="Arial" pitchFamily="34" charset="0"/>
              </a:rPr>
              <a:t>Example 1: Constant Space – O(1)</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sz="2400" b="0" i="0" u="none" strike="noStrike" cap="none" normalizeH="0" baseline="0" dirty="0" smtClean="0">
                <a:ln>
                  <a:noFill/>
                </a:ln>
                <a:solidFill>
                  <a:schemeClr val="tx1"/>
                </a:solidFill>
                <a:effectLst/>
                <a:latin typeface="Arial Unicode MS" pitchFamily="34" charset="-128"/>
                <a:cs typeface="Arial" pitchFamily="34" charset="0"/>
              </a:rPr>
              <a:t>Void main()</a:t>
            </a:r>
          </a:p>
          <a:p>
            <a:pPr marL="0" marR="0" lvl="0" indent="0" algn="l" defTabSz="914400" rtl="0" eaLnBrk="0" fontAlgn="base" latinLnBrk="0" hangingPunct="0">
              <a:lnSpc>
                <a:spcPct val="100000"/>
              </a:lnSpc>
              <a:spcBef>
                <a:spcPct val="0"/>
              </a:spcBef>
              <a:spcAft>
                <a:spcPct val="0"/>
              </a:spcAft>
              <a:buClrTx/>
              <a:buSzTx/>
              <a:buFontTx/>
              <a:buNone/>
              <a:tabLst/>
            </a:pPr>
            <a:r>
              <a:rPr lang="en-GB" sz="2400" dirty="0" smtClean="0">
                <a:latin typeface="Arial Unicode MS" pitchFamily="34" charset="-128"/>
                <a:cs typeface="Arial" pitchFamily="34" charset="0"/>
              </a:rPr>
              <a:t>{</a:t>
            </a:r>
            <a:endParaRPr kumimoji="0" lang="en-US" sz="2400" b="0" i="0" u="none" strike="noStrike" cap="none" normalizeH="0" baseline="0" dirty="0" smtClean="0">
              <a:ln>
                <a:noFill/>
              </a:ln>
              <a:solidFill>
                <a:schemeClr val="tx1"/>
              </a:solidFill>
              <a:effectLst/>
              <a:latin typeface="Arial Unicode MS" pitchFamily="34" charset="-128"/>
              <a:cs typeface="Arial" pitchFamily="34" charset="0"/>
            </a:endParaRPr>
          </a:p>
          <a:p>
            <a:pPr lvl="0" eaLnBrk="0" fontAlgn="base" hangingPunct="0">
              <a:spcBef>
                <a:spcPct val="0"/>
              </a:spcBef>
              <a:spcAft>
                <a:spcPct val="0"/>
              </a:spcAft>
            </a:pPr>
            <a:r>
              <a:rPr kumimoji="0" lang="en-US" sz="2400" b="0" i="0" u="none" strike="noStrike" cap="none" normalizeH="0" baseline="0" dirty="0" err="1" smtClean="0">
                <a:ln>
                  <a:noFill/>
                </a:ln>
                <a:solidFill>
                  <a:schemeClr val="tx1"/>
                </a:solidFill>
                <a:effectLst/>
                <a:latin typeface="Arial Unicode MS" pitchFamily="34" charset="-128"/>
                <a:cs typeface="Arial" pitchFamily="34" charset="0"/>
              </a:rPr>
              <a:t>int</a:t>
            </a:r>
            <a:r>
              <a:rPr kumimoji="0" lang="en-US" sz="2400" b="0" i="0" u="none" strike="noStrike" cap="none" normalizeH="0" baseline="0" dirty="0" smtClean="0">
                <a:ln>
                  <a:noFill/>
                </a:ln>
                <a:solidFill>
                  <a:schemeClr val="tx1"/>
                </a:solidFill>
                <a:effectLst/>
                <a:latin typeface="Arial Unicode MS" pitchFamily="34" charset="-128"/>
                <a:cs typeface="Arial" pitchFamily="34" charset="0"/>
              </a:rPr>
              <a:t> a</a:t>
            </a:r>
            <a:r>
              <a:rPr lang="en-GB" sz="2400" dirty="0" smtClean="0"/>
              <a:t> ,</a:t>
            </a:r>
            <a:r>
              <a:rPr kumimoji="0" lang="en-US" sz="2400" b="0" i="0" u="none" strike="noStrike" cap="none" normalizeH="0" baseline="0" dirty="0" smtClean="0">
                <a:ln>
                  <a:noFill/>
                </a:ln>
                <a:solidFill>
                  <a:schemeClr val="tx1"/>
                </a:solidFill>
                <a:effectLst/>
                <a:latin typeface="Arial Unicode MS" pitchFamily="34" charset="-128"/>
                <a:cs typeface="Arial" pitchFamily="34" charset="0"/>
              </a:rPr>
              <a:t> b </a:t>
            </a:r>
            <a:r>
              <a:rPr lang="en-GB" sz="2400" dirty="0" smtClean="0"/>
              <a:t>, </a:t>
            </a:r>
            <a:r>
              <a:rPr kumimoji="0" lang="en-US" sz="2400" b="0" i="0" u="none" strike="noStrike" cap="none" normalizeH="0" baseline="0" dirty="0" smtClean="0">
                <a:ln>
                  <a:noFill/>
                </a:ln>
                <a:solidFill>
                  <a:schemeClr val="tx1"/>
                </a:solidFill>
                <a:effectLst/>
                <a:latin typeface="Arial Unicode MS" pitchFamily="34" charset="-128"/>
                <a:cs typeface="Arial" pitchFamily="34" charset="0"/>
              </a:rPr>
              <a:t>c;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Unicode MS" pitchFamily="34" charset="-128"/>
                <a:cs typeface="Arial" pitchFamily="34" charset="0"/>
              </a:rPr>
              <a:t> c=</a:t>
            </a:r>
            <a:r>
              <a:rPr kumimoji="0" lang="en-US" sz="2400" b="0" i="0" u="none" strike="noStrike" cap="none" normalizeH="0" baseline="0" dirty="0" err="1" smtClean="0">
                <a:ln>
                  <a:noFill/>
                </a:ln>
                <a:solidFill>
                  <a:schemeClr val="tx1"/>
                </a:solidFill>
                <a:effectLst/>
                <a:latin typeface="Arial Unicode MS" pitchFamily="34" charset="-128"/>
                <a:cs typeface="Arial" pitchFamily="34" charset="0"/>
              </a:rPr>
              <a:t>a+b</a:t>
            </a:r>
            <a:r>
              <a:rPr lang="en-US" sz="2400" dirty="0" smtClean="0">
                <a:latin typeface="Arial Unicode MS" pitchFamily="34" charset="-128"/>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sz="2400" b="0" i="0" u="none" strike="noStrike" cap="none" normalizeH="0" baseline="0" dirty="0" smtClean="0">
                <a:ln>
                  <a:noFill/>
                </a:ln>
                <a:solidFill>
                  <a:schemeClr val="tx1"/>
                </a:solidFill>
                <a:effectLst/>
                <a:latin typeface="Arial Unicode MS" pitchFamily="34" charset="-128"/>
                <a:cs typeface="Arial" pitchFamily="34" charset="0"/>
              </a:rPr>
              <a:t>Print c;</a:t>
            </a:r>
            <a:endParaRPr kumimoji="0" lang="en-US" sz="2400" b="0" i="0" u="none" strike="noStrike" cap="none" normalizeH="0" baseline="0" dirty="0" smtClean="0">
              <a:ln>
                <a:noFill/>
              </a:ln>
              <a:solidFill>
                <a:schemeClr val="tx1"/>
              </a:solidFill>
              <a:effectLst/>
              <a:latin typeface="Arial Unicode MS" pitchFamily="34" charset="-128"/>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Unicode MS" pitchFamily="34" charset="-128"/>
                <a:cs typeface="Arial"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Unicode MS" pitchFamily="34" charset="-128"/>
                <a:cs typeface="Arial" pitchFamily="34" charset="0"/>
              </a:rPr>
              <a:t>}</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7" name="Table 6"/>
          <p:cNvGraphicFramePr>
            <a:graphicFrameLocks noGrp="1"/>
          </p:cNvGraphicFramePr>
          <p:nvPr/>
        </p:nvGraphicFramePr>
        <p:xfrm>
          <a:off x="457200" y="4876800"/>
          <a:ext cx="7696200" cy="2103120"/>
        </p:xfrm>
        <a:graphic>
          <a:graphicData uri="http://schemas.openxmlformats.org/drawingml/2006/table">
            <a:tbl>
              <a:tblPr/>
              <a:tblGrid>
                <a:gridCol w="3848100"/>
                <a:gridCol w="3848100"/>
              </a:tblGrid>
              <a:tr h="355600">
                <a:tc>
                  <a:txBody>
                    <a:bodyPr/>
                    <a:lstStyle/>
                    <a:p>
                      <a:r>
                        <a:rPr lang="en-US" sz="2400" dirty="0"/>
                        <a:t>Variable</a:t>
                      </a:r>
                    </a:p>
                  </a:txBody>
                  <a:tcPr anchor="ctr">
                    <a:lnL>
                      <a:noFill/>
                    </a:lnL>
                    <a:lnR>
                      <a:noFill/>
                    </a:lnR>
                    <a:lnT>
                      <a:noFill/>
                    </a:lnT>
                    <a:lnB>
                      <a:noFill/>
                    </a:lnB>
                  </a:tcPr>
                </a:tc>
                <a:tc>
                  <a:txBody>
                    <a:bodyPr/>
                    <a:lstStyle/>
                    <a:p>
                      <a:r>
                        <a:rPr lang="en-US" sz="2400"/>
                        <a:t>Memory</a:t>
                      </a:r>
                    </a:p>
                  </a:txBody>
                  <a:tcPr anchor="ctr">
                    <a:lnL>
                      <a:noFill/>
                    </a:lnL>
                    <a:lnR>
                      <a:noFill/>
                    </a:lnR>
                    <a:lnT>
                      <a:noFill/>
                    </a:lnT>
                    <a:lnB>
                      <a:noFill/>
                    </a:lnB>
                  </a:tcPr>
                </a:tc>
              </a:tr>
              <a:tr h="355600">
                <a:tc>
                  <a:txBody>
                    <a:bodyPr/>
                    <a:lstStyle/>
                    <a:p>
                      <a:r>
                        <a:rPr lang="en-US" sz="2400" dirty="0" smtClean="0"/>
                        <a:t>a b c </a:t>
                      </a:r>
                      <a:endParaRPr lang="en-US" sz="2400" dirty="0"/>
                    </a:p>
                  </a:txBody>
                  <a:tcPr anchor="ctr">
                    <a:lnL>
                      <a:noFill/>
                    </a:lnL>
                    <a:lnR>
                      <a:noFill/>
                    </a:lnR>
                    <a:lnT>
                      <a:noFill/>
                    </a:lnT>
                    <a:lnB>
                      <a:noFill/>
                    </a:lnB>
                  </a:tcPr>
                </a:tc>
                <a:tc>
                  <a:txBody>
                    <a:bodyPr/>
                    <a:lstStyle/>
                    <a:p>
                      <a:r>
                        <a:rPr lang="en-US" sz="2400" b="1" dirty="0" smtClean="0"/>
                        <a:t>3 integer  </a:t>
                      </a:r>
                      <a:r>
                        <a:rPr lang="en-US" sz="2400" dirty="0" smtClean="0"/>
                        <a:t>-- a</a:t>
                      </a:r>
                      <a:r>
                        <a:rPr lang="en-US" sz="2400" baseline="0" dirty="0" smtClean="0"/>
                        <a:t> b c will use only 3 integer even if the value of a and b increases</a:t>
                      </a:r>
                      <a:endParaRPr lang="en-US" sz="2400" dirty="0"/>
                    </a:p>
                  </a:txBody>
                  <a:tcPr anchor="ctr">
                    <a:lnL>
                      <a:noFill/>
                    </a:lnL>
                    <a:lnR>
                      <a:noFill/>
                    </a:lnR>
                    <a:lnT>
                      <a:noFill/>
                    </a:lnT>
                    <a:lnB>
                      <a:noFill/>
                    </a:lnB>
                  </a:tcPr>
                </a:tc>
              </a:tr>
              <a:tr h="355600">
                <a:tc>
                  <a:txBody>
                    <a:bodyPr/>
                    <a:lstStyle/>
                    <a:p>
                      <a:endParaRPr lang="en-US" sz="2400" dirty="0"/>
                    </a:p>
                  </a:txBody>
                  <a:tcPr anchor="ctr">
                    <a:lnL>
                      <a:noFill/>
                    </a:lnL>
                    <a:lnR>
                      <a:noFill/>
                    </a:lnR>
                    <a:lnT>
                      <a:noFill/>
                    </a:lnT>
                    <a:lnB>
                      <a:noFill/>
                    </a:lnB>
                  </a:tcPr>
                </a:tc>
                <a:tc>
                  <a:txBody>
                    <a:bodyPr/>
                    <a:lstStyle/>
                    <a:p>
                      <a:endParaRPr lang="en-US" sz="2400" dirty="0"/>
                    </a:p>
                  </a:txBody>
                  <a:tcPr anchor="ctr">
                    <a:lnL>
                      <a:noFill/>
                    </a:lnL>
                    <a:lnR>
                      <a:noFill/>
                    </a:lnR>
                    <a:lnT>
                      <a:noFill/>
                    </a:lnT>
                    <a:lnB>
                      <a:noFill/>
                    </a:lnB>
                  </a:tcPr>
                </a:tc>
              </a:tr>
            </a:tbl>
          </a:graphicData>
        </a:graphic>
      </p:graphicFrame>
      <p:sp>
        <p:nvSpPr>
          <p:cNvPr id="49155" name="Rectangle 3"/>
          <p:cNvSpPr>
            <a:spLocks noChangeArrowheads="1"/>
          </p:cNvSpPr>
          <p:nvPr/>
        </p:nvSpPr>
        <p:spPr bwMode="auto">
          <a:xfrm>
            <a:off x="304800" y="3895636"/>
            <a:ext cx="2819400"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pitchFamily="34" charset="0"/>
                <a:cs typeface="Arial" pitchFamily="34" charset="0"/>
              </a:rPr>
              <a:t>Memory Used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sp>
        <p:nvSpPr>
          <p:cNvPr id="49153" name="Rectangle 1"/>
          <p:cNvSpPr>
            <a:spLocks noChangeArrowheads="1"/>
          </p:cNvSpPr>
          <p:nvPr/>
        </p:nvSpPr>
        <p:spPr bwMode="auto">
          <a:xfrm>
            <a:off x="533400" y="-184666"/>
            <a:ext cx="8077200" cy="34163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pitchFamily="34" charset="0"/>
                <a:cs typeface="Arial" pitchFamily="34" charset="0"/>
              </a:rPr>
              <a:t>Space Complexity</a:t>
            </a:r>
          </a:p>
          <a:p>
            <a:pPr lvl="0" fontAlgn="base">
              <a:spcBef>
                <a:spcPct val="0"/>
              </a:spcBef>
              <a:spcAft>
                <a:spcPct val="0"/>
              </a:spcAft>
            </a:pPr>
            <a:endParaRPr lang="nn-NO" sz="2400" b="1" dirty="0" smtClean="0">
              <a:latin typeface="Arial" pitchFamily="34" charset="0"/>
              <a:cs typeface="Arial" pitchFamily="34" charset="0"/>
            </a:endParaRPr>
          </a:p>
          <a:p>
            <a:pPr lvl="0" fontAlgn="base">
              <a:spcBef>
                <a:spcPct val="0"/>
              </a:spcBef>
              <a:spcAft>
                <a:spcPct val="0"/>
              </a:spcAft>
            </a:pPr>
            <a:r>
              <a:rPr lang="nn-NO" sz="2400" b="1" dirty="0" smtClean="0">
                <a:latin typeface="Arial" pitchFamily="34" charset="0"/>
                <a:cs typeface="Arial" pitchFamily="34" charset="0"/>
              </a:rPr>
              <a:t>Example 2</a:t>
            </a:r>
          </a:p>
          <a:p>
            <a:pPr lvl="0" fontAlgn="base">
              <a:spcBef>
                <a:spcPct val="0"/>
              </a:spcBef>
              <a:spcAft>
                <a:spcPct val="0"/>
              </a:spcAft>
            </a:pPr>
            <a:r>
              <a:rPr lang="nn-NO" sz="2400" b="1" dirty="0" smtClean="0">
                <a:latin typeface="Arial" pitchFamily="34" charset="0"/>
                <a:cs typeface="Arial" pitchFamily="34" charset="0"/>
              </a:rPr>
              <a:t>int a[3]</a:t>
            </a:r>
            <a:r>
              <a:rPr lang="en-GB" sz="2400" dirty="0" smtClean="0"/>
              <a:t>,</a:t>
            </a:r>
            <a:r>
              <a:rPr lang="en-GB" sz="2400" b="1" dirty="0" smtClean="0"/>
              <a:t>i</a:t>
            </a:r>
            <a:r>
              <a:rPr lang="nn-NO" sz="2400" b="1" dirty="0" smtClean="0">
                <a:latin typeface="Arial" pitchFamily="34" charset="0"/>
                <a:cs typeface="Arial" pitchFamily="34" charset="0"/>
              </a:rPr>
              <a:t>;</a:t>
            </a:r>
          </a:p>
          <a:p>
            <a:pPr lvl="0" fontAlgn="base">
              <a:spcBef>
                <a:spcPct val="0"/>
              </a:spcBef>
              <a:spcAft>
                <a:spcPct val="0"/>
              </a:spcAft>
            </a:pPr>
            <a:r>
              <a:rPr lang="nn-NO" sz="2400" b="1" dirty="0" smtClean="0">
                <a:latin typeface="Arial" pitchFamily="34" charset="0"/>
                <a:cs typeface="Arial" pitchFamily="34" charset="0"/>
              </a:rPr>
              <a:t>for(int i = 0; i &lt; 3; i++)</a:t>
            </a:r>
          </a:p>
          <a:p>
            <a:pPr lvl="0" fontAlgn="base">
              <a:spcBef>
                <a:spcPct val="0"/>
              </a:spcBef>
              <a:spcAft>
                <a:spcPct val="0"/>
              </a:spcAft>
            </a:pPr>
            <a:r>
              <a:rPr lang="nn-NO" sz="2400" b="1" dirty="0" smtClean="0">
                <a:latin typeface="Arial" pitchFamily="34" charset="0"/>
                <a:cs typeface="Arial" pitchFamily="34" charset="0"/>
              </a:rPr>
              <a:t>{</a:t>
            </a:r>
          </a:p>
          <a:p>
            <a:pPr lvl="0" fontAlgn="base">
              <a:spcBef>
                <a:spcPct val="0"/>
              </a:spcBef>
              <a:spcAft>
                <a:spcPct val="0"/>
              </a:spcAft>
            </a:pPr>
            <a:r>
              <a:rPr lang="nn-NO" sz="2400" b="1" dirty="0" smtClean="0">
                <a:latin typeface="Arial" pitchFamily="34" charset="0"/>
                <a:cs typeface="Arial" pitchFamily="34" charset="0"/>
              </a:rPr>
              <a:t>    get (a[i]);</a:t>
            </a:r>
          </a:p>
          <a:p>
            <a:pPr lvl="0" fontAlgn="base">
              <a:spcBef>
                <a:spcPct val="0"/>
              </a:spcBef>
              <a:spcAft>
                <a:spcPct val="0"/>
              </a:spcAft>
            </a:pPr>
            <a:r>
              <a:rPr lang="nn-NO" sz="2400" b="1" dirty="0" smtClean="0">
                <a:latin typeface="Arial" pitchFamily="34" charset="0"/>
                <a:cs typeface="Arial" pitchFamily="34" charset="0"/>
              </a:rPr>
              <a:t>Print (a[i]);</a:t>
            </a:r>
          </a:p>
          <a:p>
            <a:pPr lvl="0" fontAlgn="base">
              <a:spcBef>
                <a:spcPct val="0"/>
              </a:spcBef>
              <a:spcAft>
                <a:spcPct val="0"/>
              </a:spcAft>
            </a:pPr>
            <a:r>
              <a:rPr lang="nn-NO" sz="2400" b="1" dirty="0" smtClean="0">
                <a:latin typeface="Arial" pitchFamily="34" charset="0"/>
                <a:cs typeface="Arial" pitchFamily="34" charset="0"/>
              </a:rPr>
              <a:t>}</a:t>
            </a:r>
            <a:endParaRPr kumimoji="0" lang="en-US" sz="2400" b="1"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7" name="Table 6"/>
          <p:cNvGraphicFramePr>
            <a:graphicFrameLocks noGrp="1"/>
          </p:cNvGraphicFramePr>
          <p:nvPr/>
        </p:nvGraphicFramePr>
        <p:xfrm>
          <a:off x="457200" y="4876800"/>
          <a:ext cx="4419600" cy="1371600"/>
        </p:xfrm>
        <a:graphic>
          <a:graphicData uri="http://schemas.openxmlformats.org/drawingml/2006/table">
            <a:tbl>
              <a:tblPr/>
              <a:tblGrid>
                <a:gridCol w="2209800"/>
                <a:gridCol w="2209800"/>
              </a:tblGrid>
              <a:tr h="355600">
                <a:tc>
                  <a:txBody>
                    <a:bodyPr/>
                    <a:lstStyle/>
                    <a:p>
                      <a:r>
                        <a:rPr lang="en-US" sz="2400" dirty="0"/>
                        <a:t>Variable</a:t>
                      </a:r>
                    </a:p>
                  </a:txBody>
                  <a:tcPr anchor="ctr">
                    <a:lnL>
                      <a:noFill/>
                    </a:lnL>
                    <a:lnR>
                      <a:noFill/>
                    </a:lnR>
                    <a:lnT>
                      <a:noFill/>
                    </a:lnT>
                    <a:lnB>
                      <a:noFill/>
                    </a:lnB>
                  </a:tcPr>
                </a:tc>
                <a:tc>
                  <a:txBody>
                    <a:bodyPr/>
                    <a:lstStyle/>
                    <a:p>
                      <a:r>
                        <a:rPr lang="en-US" sz="2400"/>
                        <a:t>Memory</a:t>
                      </a:r>
                    </a:p>
                  </a:txBody>
                  <a:tcPr anchor="ctr">
                    <a:lnL>
                      <a:noFill/>
                    </a:lnL>
                    <a:lnR>
                      <a:noFill/>
                    </a:lnR>
                    <a:lnT>
                      <a:noFill/>
                    </a:lnT>
                    <a:lnB>
                      <a:noFill/>
                    </a:lnB>
                  </a:tcPr>
                </a:tc>
              </a:tr>
              <a:tr h="355600">
                <a:tc>
                  <a:txBody>
                    <a:bodyPr/>
                    <a:lstStyle/>
                    <a:p>
                      <a:r>
                        <a:rPr lang="en-GB" sz="2400" dirty="0" smtClean="0"/>
                        <a:t>a[i]</a:t>
                      </a:r>
                      <a:endParaRPr lang="en-US" sz="2400" dirty="0"/>
                    </a:p>
                  </a:txBody>
                  <a:tcPr anchor="ctr">
                    <a:lnL>
                      <a:noFill/>
                    </a:lnL>
                    <a:lnR>
                      <a:noFill/>
                    </a:lnR>
                    <a:lnT>
                      <a:noFill/>
                    </a:lnT>
                    <a:lnB>
                      <a:noFill/>
                    </a:lnB>
                  </a:tcPr>
                </a:tc>
                <a:tc>
                  <a:txBody>
                    <a:bodyPr/>
                    <a:lstStyle/>
                    <a:p>
                      <a:r>
                        <a:rPr lang="en-GB" sz="2400" dirty="0" smtClean="0"/>
                        <a:t>3 integer</a:t>
                      </a:r>
                      <a:endParaRPr lang="en-US" sz="2400" dirty="0"/>
                    </a:p>
                  </a:txBody>
                  <a:tcPr anchor="ctr">
                    <a:lnL>
                      <a:noFill/>
                    </a:lnL>
                    <a:lnR>
                      <a:noFill/>
                    </a:lnR>
                    <a:lnT>
                      <a:noFill/>
                    </a:lnT>
                    <a:lnB>
                      <a:noFill/>
                    </a:lnB>
                  </a:tcPr>
                </a:tc>
              </a:tr>
              <a:tr h="355600">
                <a:tc>
                  <a:txBody>
                    <a:bodyPr/>
                    <a:lstStyle/>
                    <a:p>
                      <a:r>
                        <a:rPr lang="en-US" sz="2400" dirty="0"/>
                        <a:t>i</a:t>
                      </a:r>
                    </a:p>
                  </a:txBody>
                  <a:tcPr anchor="ctr">
                    <a:lnL>
                      <a:noFill/>
                    </a:lnL>
                    <a:lnR>
                      <a:noFill/>
                    </a:lnR>
                    <a:lnT>
                      <a:noFill/>
                    </a:lnT>
                    <a:lnB>
                      <a:noFill/>
                    </a:lnB>
                  </a:tcPr>
                </a:tc>
                <a:tc>
                  <a:txBody>
                    <a:bodyPr/>
                    <a:lstStyle/>
                    <a:p>
                      <a:r>
                        <a:rPr lang="en-US" sz="2400" dirty="0"/>
                        <a:t>1 </a:t>
                      </a:r>
                      <a:r>
                        <a:rPr lang="en-US" sz="2400" dirty="0" smtClean="0"/>
                        <a:t>integer</a:t>
                      </a:r>
                      <a:endParaRPr lang="en-US" sz="2400" dirty="0"/>
                    </a:p>
                  </a:txBody>
                  <a:tcPr anchor="ctr">
                    <a:lnL>
                      <a:noFill/>
                    </a:lnL>
                    <a:lnR>
                      <a:noFill/>
                    </a:lnR>
                    <a:lnT>
                      <a:noFill/>
                    </a:lnT>
                    <a:lnB>
                      <a:noFill/>
                    </a:lnB>
                  </a:tcPr>
                </a:tc>
              </a:tr>
            </a:tbl>
          </a:graphicData>
        </a:graphic>
      </p:graphicFrame>
      <p:sp>
        <p:nvSpPr>
          <p:cNvPr id="49155" name="Rectangle 3"/>
          <p:cNvSpPr>
            <a:spLocks noChangeArrowheads="1"/>
          </p:cNvSpPr>
          <p:nvPr/>
        </p:nvSpPr>
        <p:spPr bwMode="auto">
          <a:xfrm>
            <a:off x="304800" y="3895636"/>
            <a:ext cx="2819400"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pitchFamily="34" charset="0"/>
                <a:cs typeface="Arial" pitchFamily="34" charset="0"/>
              </a:rPr>
              <a:t>Memory Used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
        <p:nvSpPr>
          <p:cNvPr id="9" name="Rectangle 8"/>
          <p:cNvSpPr/>
          <p:nvPr/>
        </p:nvSpPr>
        <p:spPr>
          <a:xfrm>
            <a:off x="4267200" y="914400"/>
            <a:ext cx="4572000" cy="5632311"/>
          </a:xfrm>
          <a:prstGeom prst="rect">
            <a:avLst/>
          </a:prstGeom>
        </p:spPr>
        <p:txBody>
          <a:bodyPr>
            <a:spAutoFit/>
          </a:bodyPr>
          <a:lstStyle/>
          <a:p>
            <a:r>
              <a:rPr lang="en-GB" sz="2400" dirty="0" smtClean="0"/>
              <a:t>n=5</a:t>
            </a:r>
            <a:endParaRPr lang="en-US" sz="2400" dirty="0" smtClean="0"/>
          </a:p>
          <a:p>
            <a:r>
              <a:rPr lang="en-US" sz="2400" dirty="0" err="1" smtClean="0"/>
              <a:t>arr</a:t>
            </a:r>
            <a:r>
              <a:rPr lang="en-US" sz="2400" dirty="0" smtClean="0"/>
              <a:t> 10 20 30 40 50</a:t>
            </a:r>
          </a:p>
          <a:p>
            <a:r>
              <a:rPr lang="en-US" sz="2400" dirty="0" smtClean="0"/>
              <a:t> </a:t>
            </a:r>
            <a:r>
              <a:rPr lang="en-GB" sz="2400" dirty="0" smtClean="0"/>
              <a:t>n=10</a:t>
            </a:r>
            <a:endParaRPr lang="en-US" sz="2400" dirty="0" smtClean="0"/>
          </a:p>
          <a:p>
            <a:r>
              <a:rPr lang="en-GB" sz="2400" dirty="0" smtClean="0"/>
              <a:t>a[i]=1 2 3 4 5 6 7 8 9 10  </a:t>
            </a:r>
          </a:p>
          <a:p>
            <a:endParaRPr lang="en-GB" sz="2400" b="1" dirty="0" smtClean="0"/>
          </a:p>
          <a:p>
            <a:endParaRPr lang="en-GB" sz="2400" b="1" dirty="0" smtClean="0"/>
          </a:p>
          <a:p>
            <a:endParaRPr lang="en-GB" sz="2400" b="1" dirty="0" smtClean="0"/>
          </a:p>
          <a:p>
            <a:r>
              <a:rPr lang="en-GB" sz="2400" b="1" dirty="0" smtClean="0"/>
              <a:t>Memory space depends on  n..</a:t>
            </a:r>
          </a:p>
          <a:p>
            <a:r>
              <a:rPr lang="en-GB" sz="2400" b="1" dirty="0" smtClean="0"/>
              <a:t>If n increases then space also increases..</a:t>
            </a:r>
          </a:p>
          <a:p>
            <a:endParaRPr lang="en-GB" sz="2400" b="1" dirty="0" smtClean="0"/>
          </a:p>
          <a:p>
            <a:r>
              <a:rPr lang="en-US" sz="2400" b="1" dirty="0" smtClean="0"/>
              <a:t>Space Complexity = O(n)</a:t>
            </a:r>
          </a:p>
          <a:p>
            <a:endParaRPr lang="en-GB" sz="2400" b="1" dirty="0" smtClean="0"/>
          </a:p>
          <a:p>
            <a:endParaRPr lang="en-GB" sz="2400" b="1" dirty="0" smtClean="0"/>
          </a:p>
          <a:p>
            <a:endParaRPr lang="en-GB" sz="2400" b="1"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pic>
        <p:nvPicPr>
          <p:cNvPr id="1026" name="Picture 2"/>
          <p:cNvPicPr>
            <a:picLocks noChangeAspect="1" noChangeArrowheads="1"/>
          </p:cNvPicPr>
          <p:nvPr/>
        </p:nvPicPr>
        <p:blipFill>
          <a:blip r:embed="rId2" cstate="print"/>
          <a:srcRect/>
          <a:stretch>
            <a:fillRect/>
          </a:stretch>
        </p:blipFill>
        <p:spPr bwMode="auto">
          <a:xfrm>
            <a:off x="381000" y="230103"/>
            <a:ext cx="8534399" cy="651411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954107"/>
          </a:xfrm>
          <a:prstGeom prst="rect">
            <a:avLst/>
          </a:prstGeom>
        </p:spPr>
        <p:txBody>
          <a:bodyPr wrap="square">
            <a:spAutoFit/>
          </a:bodyPr>
          <a:lstStyle/>
          <a:p>
            <a:r>
              <a:rPr lang="en-GB" sz="2800" b="1" dirty="0" smtClean="0"/>
              <a:t>              Fundamentals of Algorithm analysis </a:t>
            </a:r>
          </a:p>
          <a:p>
            <a:endParaRPr lang="en-GB" sz="2800" dirty="0" smtClean="0"/>
          </a:p>
        </p:txBody>
      </p:sp>
      <p:pic>
        <p:nvPicPr>
          <p:cNvPr id="3074" name="Picture 2"/>
          <p:cNvPicPr>
            <a:picLocks noChangeAspect="1" noChangeArrowheads="1"/>
          </p:cNvPicPr>
          <p:nvPr/>
        </p:nvPicPr>
        <p:blipFill>
          <a:blip r:embed="rId2" cstate="print"/>
          <a:srcRect/>
          <a:stretch>
            <a:fillRect/>
          </a:stretch>
        </p:blipFill>
        <p:spPr bwMode="auto">
          <a:xfrm>
            <a:off x="0" y="533399"/>
            <a:ext cx="9144000" cy="4876801"/>
          </a:xfrm>
          <a:prstGeom prst="rect">
            <a:avLst/>
          </a:prstGeom>
          <a:noFill/>
          <a:ln w="9525">
            <a:noFill/>
            <a:miter lim="800000"/>
            <a:headEnd/>
            <a:tailEnd/>
          </a:ln>
        </p:spPr>
      </p:pic>
      <p:sp>
        <p:nvSpPr>
          <p:cNvPr id="3075" name="Rectangle 3"/>
          <p:cNvSpPr>
            <a:spLocks noChangeArrowheads="1"/>
          </p:cNvSpPr>
          <p:nvPr/>
        </p:nvSpPr>
        <p:spPr bwMode="auto">
          <a:xfrm>
            <a:off x="0" y="5410200"/>
            <a:ext cx="9144000"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Arial" charset="0"/>
                <a:cs typeface="Arial" charset="0"/>
              </a:rPr>
              <a:t>We </a:t>
            </a:r>
            <a:r>
              <a:rPr kumimoji="0" lang="en-US" sz="2400" b="1" i="0" u="none" strike="noStrike" cap="none" normalizeH="0" baseline="0" dirty="0" smtClean="0">
                <a:ln>
                  <a:noFill/>
                </a:ln>
                <a:solidFill>
                  <a:schemeClr val="tx1"/>
                </a:solidFill>
                <a:effectLst/>
                <a:latin typeface="Arial" charset="0"/>
                <a:cs typeface="Arial" charset="0"/>
              </a:rPr>
              <a:t>do not measure time in seconds or milliseconds.</a:t>
            </a:r>
            <a:r>
              <a:rPr kumimoji="0" lang="en-US" sz="2400" b="0" i="0" u="none" strike="noStrike" cap="none" normalizeH="0" baseline="0" dirty="0" smtClean="0">
                <a:ln>
                  <a:noFill/>
                </a:ln>
                <a:solidFill>
                  <a:schemeClr val="tx1"/>
                </a:solidFill>
                <a:effectLst/>
                <a:latin typeface="Arial" charset="0"/>
                <a:cs typeface="Arial" charset="0"/>
              </a:rPr>
              <a:t> </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Arial" charset="0"/>
                <a:cs typeface="Arial" charset="0"/>
              </a:rPr>
              <a:t>We </a:t>
            </a:r>
            <a:r>
              <a:rPr kumimoji="0" lang="en-US" sz="2400" b="1" i="0" u="none" strike="noStrike" cap="none" normalizeH="0" baseline="0" dirty="0" smtClean="0">
                <a:ln>
                  <a:noFill/>
                </a:ln>
                <a:solidFill>
                  <a:schemeClr val="tx1"/>
                </a:solidFill>
                <a:effectLst/>
                <a:latin typeface="Arial" charset="0"/>
                <a:cs typeface="Arial" charset="0"/>
              </a:rPr>
              <a:t>count the number of basic operations</a:t>
            </a:r>
            <a:r>
              <a:rPr kumimoji="0" lang="en-US" sz="2400" b="0" i="0" u="none" strike="noStrike" cap="none" normalizeH="0" baseline="0" dirty="0" smtClean="0">
                <a:ln>
                  <a:noFill/>
                </a:ln>
                <a:solidFill>
                  <a:schemeClr val="tx1"/>
                </a:solidFill>
                <a:effectLst/>
                <a:latin typeface="Arial" charset="0"/>
                <a:cs typeface="Arial" charset="0"/>
              </a:rPr>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954107"/>
          </a:xfrm>
          <a:prstGeom prst="rect">
            <a:avLst/>
          </a:prstGeom>
        </p:spPr>
        <p:txBody>
          <a:bodyPr wrap="square">
            <a:spAutoFit/>
          </a:bodyPr>
          <a:lstStyle/>
          <a:p>
            <a:r>
              <a:rPr lang="en-GB" sz="2800" b="1" dirty="0" smtClean="0"/>
              <a:t>              Fundamentals of Algorithm analysis </a:t>
            </a:r>
          </a:p>
          <a:p>
            <a:endParaRPr lang="en-GB" sz="2800" dirty="0" smtClean="0"/>
          </a:p>
        </p:txBody>
      </p:sp>
      <p:pic>
        <p:nvPicPr>
          <p:cNvPr id="5122" name="Picture 2"/>
          <p:cNvPicPr>
            <a:picLocks noChangeAspect="1" noChangeArrowheads="1"/>
          </p:cNvPicPr>
          <p:nvPr/>
        </p:nvPicPr>
        <p:blipFill>
          <a:blip r:embed="rId2" cstate="print"/>
          <a:srcRect/>
          <a:stretch>
            <a:fillRect/>
          </a:stretch>
        </p:blipFill>
        <p:spPr bwMode="auto">
          <a:xfrm>
            <a:off x="152400" y="1066800"/>
            <a:ext cx="8713048" cy="3533775"/>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954107"/>
          </a:xfrm>
          <a:prstGeom prst="rect">
            <a:avLst/>
          </a:prstGeom>
        </p:spPr>
        <p:txBody>
          <a:bodyPr wrap="square">
            <a:spAutoFit/>
          </a:bodyPr>
          <a:lstStyle/>
          <a:p>
            <a:r>
              <a:rPr lang="en-GB" sz="2800" b="1" dirty="0" smtClean="0"/>
              <a:t>              Fundamentals of Algorithm analysis </a:t>
            </a:r>
          </a:p>
          <a:p>
            <a:endParaRPr lang="en-GB" sz="2800" dirty="0" smtClean="0"/>
          </a:p>
        </p:txBody>
      </p:sp>
      <p:pic>
        <p:nvPicPr>
          <p:cNvPr id="6146" name="Picture 2"/>
          <p:cNvPicPr>
            <a:picLocks noChangeAspect="1" noChangeArrowheads="1"/>
          </p:cNvPicPr>
          <p:nvPr/>
        </p:nvPicPr>
        <p:blipFill>
          <a:blip r:embed="rId2" cstate="print"/>
          <a:srcRect/>
          <a:stretch>
            <a:fillRect/>
          </a:stretch>
        </p:blipFill>
        <p:spPr bwMode="auto">
          <a:xfrm>
            <a:off x="1600200" y="533400"/>
            <a:ext cx="5505450" cy="1133475"/>
          </a:xfrm>
          <a:prstGeom prst="rect">
            <a:avLst/>
          </a:prstGeom>
          <a:noFill/>
          <a:ln w="9525">
            <a:noFill/>
            <a:miter lim="800000"/>
            <a:headEnd/>
            <a:tailEnd/>
          </a:ln>
        </p:spPr>
      </p:pic>
      <p:sp>
        <p:nvSpPr>
          <p:cNvPr id="7" name="Rectangle 6"/>
          <p:cNvSpPr/>
          <p:nvPr/>
        </p:nvSpPr>
        <p:spPr>
          <a:xfrm>
            <a:off x="152400" y="1600200"/>
            <a:ext cx="3901581" cy="461665"/>
          </a:xfrm>
          <a:prstGeom prst="rect">
            <a:avLst/>
          </a:prstGeom>
        </p:spPr>
        <p:txBody>
          <a:bodyPr wrap="none">
            <a:spAutoFit/>
          </a:bodyPr>
          <a:lstStyle/>
          <a:p>
            <a:r>
              <a:rPr lang="en-GB" sz="2400" dirty="0" smtClean="0"/>
              <a:t>Example 1: Print One Number</a:t>
            </a:r>
            <a:endParaRPr lang="en-US" sz="2400" dirty="0"/>
          </a:p>
        </p:txBody>
      </p:sp>
      <p:sp>
        <p:nvSpPr>
          <p:cNvPr id="9" name="Rectangle 8"/>
          <p:cNvSpPr/>
          <p:nvPr/>
        </p:nvSpPr>
        <p:spPr>
          <a:xfrm>
            <a:off x="228600" y="2286000"/>
            <a:ext cx="3824252" cy="1200329"/>
          </a:xfrm>
          <a:prstGeom prst="rect">
            <a:avLst/>
          </a:prstGeom>
        </p:spPr>
        <p:txBody>
          <a:bodyPr wrap="none">
            <a:spAutoFit/>
          </a:bodyPr>
          <a:lstStyle/>
          <a:p>
            <a:r>
              <a:rPr lang="en-US" sz="2400" dirty="0" err="1" smtClean="0"/>
              <a:t>printf</a:t>
            </a:r>
            <a:r>
              <a:rPr lang="en-US" sz="2400" dirty="0" smtClean="0"/>
              <a:t>("Hello");</a:t>
            </a:r>
          </a:p>
          <a:p>
            <a:endParaRPr lang="en-US" sz="2400" dirty="0" smtClean="0"/>
          </a:p>
          <a:p>
            <a:r>
              <a:rPr lang="en-US" sz="2400" dirty="0" err="1" smtClean="0"/>
              <a:t>printf</a:t>
            </a:r>
            <a:r>
              <a:rPr lang="en-US" sz="2400" dirty="0" smtClean="0"/>
              <a:t>("Hello") → 1 operation</a:t>
            </a:r>
            <a:endParaRPr lang="en-US" sz="2400" dirty="0"/>
          </a:p>
        </p:txBody>
      </p:sp>
      <p:sp>
        <p:nvSpPr>
          <p:cNvPr id="10" name="Rectangle 9"/>
          <p:cNvSpPr/>
          <p:nvPr/>
        </p:nvSpPr>
        <p:spPr>
          <a:xfrm>
            <a:off x="228600" y="3810000"/>
            <a:ext cx="3676776" cy="523220"/>
          </a:xfrm>
          <a:prstGeom prst="rect">
            <a:avLst/>
          </a:prstGeom>
        </p:spPr>
        <p:txBody>
          <a:bodyPr wrap="none">
            <a:spAutoFit/>
          </a:bodyPr>
          <a:lstStyle/>
          <a:p>
            <a:r>
              <a:rPr lang="en-GB" sz="2800" b="1" dirty="0" smtClean="0"/>
              <a:t>Time Complexity = O(1)</a:t>
            </a:r>
            <a:endParaRPr lang="en-US" sz="2800"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sp>
        <p:nvSpPr>
          <p:cNvPr id="46081" name="Rectangle 1"/>
          <p:cNvSpPr>
            <a:spLocks noChangeArrowheads="1"/>
          </p:cNvSpPr>
          <p:nvPr/>
        </p:nvSpPr>
        <p:spPr bwMode="auto">
          <a:xfrm>
            <a:off x="228600" y="-347773"/>
            <a:ext cx="8686800" cy="710963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pitchFamily="34" charset="0"/>
                <a:cs typeface="Arial" pitchFamily="34" charset="0"/>
              </a:rPr>
              <a:t>Example 2: Single Loop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Unicode MS" pitchFamily="34" charset="-128"/>
                <a:cs typeface="Arial" pitchFamily="34" charset="0"/>
              </a:rPr>
              <a:t>for(i = 0; i &lt; n; i++)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Unicode MS" pitchFamily="34" charset="-128"/>
                <a:cs typeface="Arial" pitchFamily="34" charset="0"/>
              </a:rPr>
              <a:t> </a:t>
            </a:r>
            <a:r>
              <a:rPr kumimoji="0" lang="en-US" sz="2400" b="0" i="0" u="none" strike="noStrike" cap="none" normalizeH="0" baseline="0" dirty="0" err="1" smtClean="0">
                <a:ln>
                  <a:noFill/>
                </a:ln>
                <a:solidFill>
                  <a:schemeClr val="tx1"/>
                </a:solidFill>
                <a:effectLst/>
                <a:latin typeface="Arial Unicode MS" pitchFamily="34" charset="-128"/>
                <a:cs typeface="Arial" pitchFamily="34" charset="0"/>
              </a:rPr>
              <a:t>printf</a:t>
            </a:r>
            <a:r>
              <a:rPr kumimoji="0" lang="en-US" sz="2400" b="0" i="0" u="none" strike="noStrike" cap="none" normalizeH="0" baseline="0" dirty="0" smtClean="0">
                <a:ln>
                  <a:noFill/>
                </a:ln>
                <a:solidFill>
                  <a:schemeClr val="tx1"/>
                </a:solidFill>
                <a:effectLst/>
                <a:latin typeface="Arial Unicode MS" pitchFamily="34" charset="-128"/>
                <a:cs typeface="Arial" pitchFamily="34" charset="0"/>
              </a:rPr>
              <a:t>("%d", i);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Unicode MS" pitchFamily="34" charset="-128"/>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pitchFamily="34" charset="0"/>
                <a:cs typeface="Arial" pitchFamily="34" charset="0"/>
              </a:rPr>
              <a:t>Step-by-Step Analysis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pitchFamily="34" charset="0"/>
                <a:cs typeface="Arial" pitchFamily="34" charset="0"/>
              </a:rPr>
              <a:t>Suppose</a:t>
            </a:r>
            <a:endParaRPr kumimoji="0" lang="en-US" sz="2400" b="0" i="0" u="none" strike="noStrike" cap="none" normalizeH="0" baseline="0" dirty="0" smtClean="0">
              <a:ln>
                <a:noFill/>
              </a:ln>
              <a:solidFill>
                <a:schemeClr val="tx1"/>
              </a:solidFill>
              <a:effectLst/>
              <a:latin typeface="Arial Unicode MS" pitchFamily="34" charset="-128"/>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Unicode MS" pitchFamily="34" charset="-128"/>
                <a:cs typeface="Arial" pitchFamily="34" charset="0"/>
              </a:rPr>
              <a:t>n = 5</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pitchFamily="34" charset="0"/>
                <a:cs typeface="Arial" pitchFamily="34" charset="0"/>
              </a:rPr>
              <a:t>Loop execution:</a:t>
            </a:r>
            <a:endParaRPr kumimoji="0" lang="en-US" sz="2400" b="0" i="0" u="none" strike="noStrike" cap="none" normalizeH="0" baseline="0" dirty="0" smtClean="0">
              <a:ln>
                <a:noFill/>
              </a:ln>
              <a:solidFill>
                <a:schemeClr val="tx1"/>
              </a:solidFill>
              <a:effectLst/>
              <a:latin typeface="Arial Unicode MS" pitchFamily="34" charset="-128"/>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Unicode MS" pitchFamily="34" charset="-128"/>
                <a:cs typeface="Arial" pitchFamily="34" charset="0"/>
              </a:rPr>
              <a:t> i=0 Print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Unicode MS" pitchFamily="34" charset="-128"/>
                <a:cs typeface="Arial" pitchFamily="34" charset="0"/>
              </a:rPr>
              <a:t> i=1 Print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Unicode MS" pitchFamily="34" charset="-128"/>
                <a:cs typeface="Arial" pitchFamily="34" charset="0"/>
              </a:rPr>
              <a:t> i=2 Print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Unicode MS" pitchFamily="34" charset="-128"/>
                <a:cs typeface="Arial" pitchFamily="34" charset="0"/>
              </a:rPr>
              <a:t> i=3 Print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Unicode MS" pitchFamily="34" charset="-128"/>
                <a:cs typeface="Arial" pitchFamily="34" charset="0"/>
              </a:rPr>
              <a:t> i=4 Print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pitchFamily="34" charset="0"/>
                <a:cs typeface="Arial" pitchFamily="34" charset="0"/>
              </a:rPr>
              <a:t>The loop runs </a:t>
            </a:r>
            <a:r>
              <a:rPr kumimoji="0" lang="en-US" sz="2400" b="1" i="0" u="none" strike="noStrike" cap="none" normalizeH="0" baseline="0" dirty="0" smtClean="0">
                <a:ln>
                  <a:noFill/>
                </a:ln>
                <a:solidFill>
                  <a:schemeClr val="tx1"/>
                </a:solidFill>
                <a:effectLst/>
                <a:latin typeface="Arial" pitchFamily="34" charset="0"/>
                <a:cs typeface="Arial" pitchFamily="34" charset="0"/>
              </a:rPr>
              <a:t>5 times</a:t>
            </a:r>
            <a:r>
              <a:rPr kumimoji="0" lang="en-US" sz="2400" b="0" i="0" u="none" strike="noStrike" cap="none" normalizeH="0" baseline="0" dirty="0" smtClean="0">
                <a:ln>
                  <a:noFill/>
                </a:ln>
                <a:solidFill>
                  <a:schemeClr val="tx1"/>
                </a:solidFill>
                <a:effectLst/>
                <a:latin typeface="Arial" pitchFamily="34" charset="0"/>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pitchFamily="34" charset="0"/>
                <a:cs typeface="Arial" pitchFamily="34" charset="0"/>
              </a:rPr>
              <a:t>If </a:t>
            </a:r>
            <a:r>
              <a:rPr kumimoji="0" lang="en-US" sz="2400" b="0" i="0" u="none" strike="noStrike" cap="none" normalizeH="0" baseline="0" dirty="0" smtClean="0">
                <a:ln>
                  <a:noFill/>
                </a:ln>
                <a:solidFill>
                  <a:schemeClr val="tx1"/>
                </a:solidFill>
                <a:effectLst/>
                <a:latin typeface="Arial Unicode MS" pitchFamily="34" charset="-128"/>
                <a:cs typeface="Arial" pitchFamily="34" charset="0"/>
              </a:rPr>
              <a:t>n = 100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pitchFamily="34" charset="0"/>
                <a:cs typeface="Arial" pitchFamily="34" charset="0"/>
              </a:rPr>
              <a:t>It runs </a:t>
            </a:r>
            <a:r>
              <a:rPr kumimoji="0" lang="en-US" sz="2400" b="1" i="0" u="none" strike="noStrike" cap="none" normalizeH="0" baseline="0" dirty="0" smtClean="0">
                <a:ln>
                  <a:noFill/>
                </a:ln>
                <a:solidFill>
                  <a:schemeClr val="tx1"/>
                </a:solidFill>
                <a:effectLst/>
                <a:latin typeface="Arial" pitchFamily="34" charset="0"/>
                <a:cs typeface="Arial" pitchFamily="34" charset="0"/>
              </a:rPr>
              <a:t>100 times</a:t>
            </a:r>
            <a:r>
              <a:rPr kumimoji="0" lang="en-US" sz="2400" b="0" i="0" u="none" strike="noStrike" cap="none" normalizeH="0" baseline="0" dirty="0" smtClean="0">
                <a:ln>
                  <a:noFill/>
                </a:ln>
                <a:solidFill>
                  <a:schemeClr val="tx1"/>
                </a:solidFill>
                <a:effectLst/>
                <a:latin typeface="Arial" pitchFamily="34" charset="0"/>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pitchFamily="34" charset="0"/>
                <a:cs typeface="Arial" pitchFamily="34" charset="0"/>
              </a:rPr>
              <a:t>If  </a:t>
            </a:r>
            <a:r>
              <a:rPr kumimoji="0" lang="en-US" sz="2400" b="0" i="0" u="none" strike="noStrike" cap="none" normalizeH="0" baseline="0" dirty="0" smtClean="0">
                <a:ln>
                  <a:noFill/>
                </a:ln>
                <a:solidFill>
                  <a:schemeClr val="tx1"/>
                </a:solidFill>
                <a:effectLst/>
                <a:latin typeface="Arial Unicode MS" pitchFamily="34" charset="-128"/>
                <a:cs typeface="Arial" pitchFamily="34" charset="0"/>
              </a:rPr>
              <a:t>n = 1000       </a:t>
            </a:r>
            <a:r>
              <a:rPr kumimoji="0" lang="en-US" sz="2400" b="0" i="0" u="none" strike="noStrike" cap="none" normalizeH="0" baseline="0" dirty="0" smtClean="0">
                <a:ln>
                  <a:noFill/>
                </a:ln>
                <a:solidFill>
                  <a:schemeClr val="tx1"/>
                </a:solidFill>
                <a:effectLst/>
                <a:latin typeface="Arial" pitchFamily="34" charset="0"/>
                <a:cs typeface="Arial" pitchFamily="34" charset="0"/>
              </a:rPr>
              <a:t>It runs </a:t>
            </a:r>
            <a:r>
              <a:rPr kumimoji="0" lang="en-US" sz="2400" b="1" i="0" u="none" strike="noStrike" cap="none" normalizeH="0" baseline="0" dirty="0" smtClean="0">
                <a:ln>
                  <a:noFill/>
                </a:ln>
                <a:solidFill>
                  <a:schemeClr val="tx1"/>
                </a:solidFill>
                <a:effectLst/>
                <a:latin typeface="Arial" pitchFamily="34" charset="0"/>
                <a:cs typeface="Arial" pitchFamily="34" charset="0"/>
              </a:rPr>
              <a:t>1000 times</a:t>
            </a:r>
            <a:r>
              <a:rPr kumimoji="0" lang="en-US" sz="2400" b="0" i="0" u="none" strike="noStrike" cap="none" normalizeH="0" baseline="0" dirty="0" smtClean="0">
                <a:ln>
                  <a:noFill/>
                </a:ln>
                <a:solidFill>
                  <a:schemeClr val="tx1"/>
                </a:solidFill>
                <a:effectLst/>
                <a:latin typeface="Arial" pitchFamily="34" charset="0"/>
                <a:cs typeface="Arial" pitchFamily="34" charset="0"/>
              </a:rPr>
              <a:t>.</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sp>
        <p:nvSpPr>
          <p:cNvPr id="46081" name="Rectangle 1"/>
          <p:cNvSpPr>
            <a:spLocks noChangeArrowheads="1"/>
          </p:cNvSpPr>
          <p:nvPr/>
        </p:nvSpPr>
        <p:spPr bwMode="auto">
          <a:xfrm>
            <a:off x="0" y="304800"/>
            <a:ext cx="8686800" cy="19389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chemeClr val="tx1"/>
              </a:solidFill>
              <a:effectLst/>
              <a:latin typeface="Arial" pitchFamily="34" charset="0"/>
              <a:cs typeface="Arial" pitchFamily="34" charset="0"/>
            </a:endParaRPr>
          </a:p>
          <a:p>
            <a:pPr lvl="0" eaLnBrk="0" fontAlgn="base" hangingPunct="0">
              <a:spcBef>
                <a:spcPct val="0"/>
              </a:spcBef>
              <a:spcAft>
                <a:spcPct val="0"/>
              </a:spcAft>
            </a:pPr>
            <a:r>
              <a:rPr lang="en-US" sz="2400" dirty="0" smtClean="0">
                <a:latin typeface="Arial" pitchFamily="34" charset="0"/>
                <a:cs typeface="Arial" pitchFamily="34" charset="0"/>
              </a:rPr>
              <a:t>Therefore, Number of operations </a:t>
            </a:r>
            <a:r>
              <a:rPr lang="en-US" sz="2400" dirty="0" smtClean="0">
                <a:latin typeface="Arial Unicode MS" pitchFamily="34" charset="-128"/>
                <a:cs typeface="Arial" pitchFamily="34" charset="0"/>
              </a:rPr>
              <a:t>T(n) = n</a:t>
            </a:r>
          </a:p>
          <a:p>
            <a:pPr lvl="0" eaLnBrk="0" fontAlgn="base" hangingPunct="0">
              <a:spcBef>
                <a:spcPct val="0"/>
              </a:spcBef>
              <a:spcAft>
                <a:spcPct val="0"/>
              </a:spcAft>
            </a:pPr>
            <a:r>
              <a:rPr lang="en-US" sz="2400" dirty="0" smtClean="0">
                <a:latin typeface="Arial" pitchFamily="34" charset="0"/>
                <a:cs typeface="Arial" pitchFamily="34" charset="0"/>
              </a:rPr>
              <a:t>Time Complexity  </a:t>
            </a:r>
            <a:r>
              <a:rPr lang="en-US" sz="2400" dirty="0" smtClean="0">
                <a:latin typeface="Arial Unicode MS" pitchFamily="34" charset="-128"/>
                <a:cs typeface="Arial" pitchFamily="34" charset="0"/>
              </a:rPr>
              <a:t>O(n)</a:t>
            </a:r>
            <a:endParaRPr lang="en-US" sz="2400" dirty="0" smtClean="0">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pic>
        <p:nvPicPr>
          <p:cNvPr id="47106" name="Picture 2"/>
          <p:cNvPicPr>
            <a:picLocks noChangeAspect="1" noChangeArrowheads="1"/>
          </p:cNvPicPr>
          <p:nvPr/>
        </p:nvPicPr>
        <p:blipFill>
          <a:blip r:embed="rId2" cstate="print"/>
          <a:srcRect/>
          <a:stretch>
            <a:fillRect/>
          </a:stretch>
        </p:blipFill>
        <p:spPr bwMode="auto">
          <a:xfrm>
            <a:off x="762000" y="228600"/>
            <a:ext cx="7924800" cy="618570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sp>
        <p:nvSpPr>
          <p:cNvPr id="2049" name="Rectangle 1"/>
          <p:cNvSpPr>
            <a:spLocks noChangeArrowheads="1"/>
          </p:cNvSpPr>
          <p:nvPr/>
        </p:nvSpPr>
        <p:spPr bwMode="auto">
          <a:xfrm>
            <a:off x="381000" y="225624"/>
            <a:ext cx="8153400" cy="492442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smtClean="0">
                <a:ln>
                  <a:noFill/>
                </a:ln>
                <a:solidFill>
                  <a:schemeClr val="tx1"/>
                </a:solidFill>
                <a:effectLst/>
                <a:latin typeface="Arial" charset="0"/>
                <a:cs typeface="Arial" charset="0"/>
              </a:rPr>
              <a:t>                         </a:t>
            </a:r>
            <a:r>
              <a:rPr kumimoji="0" lang="en-US" sz="2800" b="1" i="0" u="none" strike="noStrike" cap="none" normalizeH="0" baseline="0" dirty="0" smtClean="0">
                <a:ln>
                  <a:noFill/>
                </a:ln>
                <a:solidFill>
                  <a:schemeClr val="tx1"/>
                </a:solidFill>
                <a:effectLst/>
                <a:latin typeface="Arial" charset="0"/>
                <a:cs typeface="Arial" charset="0"/>
              </a:rPr>
              <a:t>2. </a:t>
            </a:r>
            <a:r>
              <a:rPr kumimoji="0" lang="en-US" sz="2800" b="1" i="0" u="none" strike="noStrike" cap="none" normalizeH="0" baseline="0" dirty="0" smtClean="0">
                <a:ln>
                  <a:noFill/>
                </a:ln>
                <a:solidFill>
                  <a:schemeClr val="tx1"/>
                </a:solidFill>
                <a:effectLst/>
                <a:latin typeface="Arial" charset="0"/>
                <a:cs typeface="Arial" charset="0"/>
              </a:rPr>
              <a:t>Asymptotic Notations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1" i="0" u="none" strike="noStrike" cap="none" normalizeH="0" baseline="0" dirty="0" smtClean="0">
                <a:ln>
                  <a:noFill/>
                </a:ln>
                <a:solidFill>
                  <a:schemeClr val="tx1"/>
                </a:solidFill>
                <a:effectLst/>
                <a:latin typeface="Arial" charset="0"/>
                <a:cs typeface="Arial"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800" b="1" i="0" u="none" strike="noStrike" cap="none" normalizeH="0" baseline="0" dirty="0" smtClean="0">
                <a:ln>
                  <a:noFill/>
                </a:ln>
                <a:solidFill>
                  <a:schemeClr val="tx1"/>
                </a:solidFill>
                <a:effectLst/>
                <a:latin typeface="Arial" charset="0"/>
                <a:cs typeface="Arial" charset="0"/>
              </a:rPr>
              <a:t>Asymptotic notations are mathematical notations used to describe the growth rate of an algorithm's time or space complexity as the input size (n) becomes very large</a:t>
            </a:r>
            <a:r>
              <a:rPr kumimoji="0" lang="en-US" sz="800" b="1" i="0" u="none" strike="noStrike" cap="none" normalizeH="0" baseline="0" dirty="0" smtClean="0">
                <a:ln>
                  <a:noFill/>
                </a:ln>
                <a:solidFill>
                  <a:schemeClr val="tx1"/>
                </a:solidFill>
                <a:effectLst/>
                <a:latin typeface="Arial" charset="0"/>
                <a:cs typeface="Arial"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GB" sz="800" b="1" dirty="0" smtClean="0">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800" b="1" i="0" u="none" strike="noStrike" cap="none" normalizeH="0" baseline="0" dirty="0" smtClean="0">
              <a:ln>
                <a:noFill/>
              </a:ln>
              <a:solidFill>
                <a:schemeClr val="tx1"/>
              </a:solidFill>
              <a:effectLst/>
              <a:latin typeface="Arial" charset="0"/>
              <a:cs typeface="Arial" charset="0"/>
            </a:endParaRPr>
          </a:p>
          <a:p>
            <a:r>
              <a:rPr lang="en-GB" sz="2800" dirty="0" smtClean="0"/>
              <a:t>There are three main notations:</a:t>
            </a:r>
          </a:p>
          <a:p>
            <a:r>
              <a:rPr lang="en-GB" sz="2800" b="1" dirty="0" smtClean="0"/>
              <a:t>Big-O (O)</a:t>
            </a:r>
            <a:r>
              <a:rPr lang="en-GB" sz="2800" dirty="0" smtClean="0"/>
              <a:t> – Worst Case </a:t>
            </a:r>
          </a:p>
          <a:p>
            <a:r>
              <a:rPr lang="en-GB" sz="2800" b="1" dirty="0" smtClean="0"/>
              <a:t>Big-Omega (Ω)</a:t>
            </a:r>
            <a:r>
              <a:rPr lang="en-GB" sz="2800" dirty="0" smtClean="0"/>
              <a:t> – Best Case </a:t>
            </a:r>
          </a:p>
          <a:p>
            <a:r>
              <a:rPr lang="en-GB" sz="2800" b="1" dirty="0" smtClean="0"/>
              <a:t>Big-Theta (Θ)</a:t>
            </a:r>
            <a:r>
              <a:rPr lang="en-GB" sz="2800" dirty="0" smtClean="0"/>
              <a:t> – </a:t>
            </a:r>
            <a:r>
              <a:rPr lang="en-GB" sz="2800" dirty="0" smtClean="0"/>
              <a:t>Average case</a:t>
            </a:r>
            <a:endParaRPr lang="en-GB" sz="2800" dirty="0" smtClean="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954107"/>
          </a:xfrm>
          <a:prstGeom prst="rect">
            <a:avLst/>
          </a:prstGeom>
        </p:spPr>
        <p:txBody>
          <a:bodyPr wrap="square">
            <a:spAutoFit/>
          </a:bodyPr>
          <a:lstStyle/>
          <a:p>
            <a:r>
              <a:rPr lang="en-GB" sz="2800" b="1" dirty="0" smtClean="0"/>
              <a:t>              Fundamentals of Algorithm analysis </a:t>
            </a:r>
          </a:p>
          <a:p>
            <a:endParaRPr lang="en-GB" sz="2800" dirty="0" smtClean="0"/>
          </a:p>
        </p:txBody>
      </p:sp>
      <p:pic>
        <p:nvPicPr>
          <p:cNvPr id="2050" name="Picture 2"/>
          <p:cNvPicPr>
            <a:picLocks noChangeAspect="1" noChangeArrowheads="1"/>
          </p:cNvPicPr>
          <p:nvPr/>
        </p:nvPicPr>
        <p:blipFill>
          <a:blip r:embed="rId2" cstate="print"/>
          <a:srcRect/>
          <a:stretch>
            <a:fillRect/>
          </a:stretch>
        </p:blipFill>
        <p:spPr bwMode="auto">
          <a:xfrm>
            <a:off x="304800" y="1066800"/>
            <a:ext cx="8522563" cy="411480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sp>
        <p:nvSpPr>
          <p:cNvPr id="2049" name="Rectangle 1"/>
          <p:cNvSpPr>
            <a:spLocks noChangeArrowheads="1"/>
          </p:cNvSpPr>
          <p:nvPr/>
        </p:nvSpPr>
        <p:spPr bwMode="auto">
          <a:xfrm>
            <a:off x="0" y="-820579"/>
            <a:ext cx="9372600" cy="763285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endParaRPr lang="en-GB" sz="2800" b="1" dirty="0" smtClean="0"/>
          </a:p>
          <a:p>
            <a:endParaRPr lang="en-GB" sz="2800" b="1" dirty="0" smtClean="0"/>
          </a:p>
          <a:p>
            <a:endParaRPr lang="en-GB" sz="2800" b="1" dirty="0" smtClean="0"/>
          </a:p>
          <a:p>
            <a:endParaRPr lang="en-GB" sz="2800" b="1" dirty="0" smtClean="0"/>
          </a:p>
          <a:p>
            <a:pPr algn="ctr"/>
            <a:r>
              <a:rPr lang="en-GB" sz="2800" b="1" dirty="0" smtClean="0"/>
              <a:t>1. Big-O Notation (O)</a:t>
            </a:r>
          </a:p>
          <a:p>
            <a:r>
              <a:rPr lang="en-GB" sz="2800" b="1" dirty="0" smtClean="0"/>
              <a:t> Big-O represents the upper bound or worst-case performance of an algorithm.</a:t>
            </a:r>
            <a:endParaRPr lang="en-GB" sz="2800" dirty="0" smtClean="0"/>
          </a:p>
          <a:p>
            <a:r>
              <a:rPr lang="en-GB" sz="2400" dirty="0" smtClean="0"/>
              <a:t> </a:t>
            </a:r>
            <a:r>
              <a:rPr lang="en-GB" sz="2400" b="1" i="1" u="sng" dirty="0" smtClean="0"/>
              <a:t>Max amount required for execution is calculated( i e ..,Worst Case) </a:t>
            </a:r>
          </a:p>
          <a:p>
            <a:r>
              <a:rPr lang="en-GB" sz="2800" b="1" dirty="0" smtClean="0"/>
              <a:t>Example: Linear Search</a:t>
            </a:r>
          </a:p>
          <a:p>
            <a:r>
              <a:rPr lang="en-GB" sz="2800" dirty="0" smtClean="0"/>
              <a:t>10 20 30 40 50</a:t>
            </a:r>
          </a:p>
          <a:p>
            <a:r>
              <a:rPr lang="en-GB" sz="2800" dirty="0" smtClean="0"/>
              <a:t>Search for </a:t>
            </a:r>
            <a:r>
              <a:rPr lang="en-GB" sz="2800" b="1" dirty="0" smtClean="0"/>
              <a:t>50</a:t>
            </a:r>
            <a:r>
              <a:rPr lang="en-GB" sz="2800" dirty="0" smtClean="0"/>
              <a:t>.</a:t>
            </a:r>
          </a:p>
          <a:p>
            <a:r>
              <a:rPr lang="en-GB" sz="2800" dirty="0" smtClean="0"/>
              <a:t>Comparisons:</a:t>
            </a:r>
          </a:p>
          <a:p>
            <a:r>
              <a:rPr lang="en-GB" sz="2800" dirty="0" smtClean="0"/>
              <a:t>10 ✗ 20 ✗ 30 ✗ 40 ✗ 50 ✓</a:t>
            </a:r>
          </a:p>
          <a:p>
            <a:r>
              <a:rPr lang="en-GB" sz="2800" dirty="0" smtClean="0"/>
              <a:t>Number of comparisons = </a:t>
            </a:r>
            <a:r>
              <a:rPr lang="en-GB" sz="2800" b="1" dirty="0" smtClean="0"/>
              <a:t>5</a:t>
            </a:r>
            <a:endParaRPr lang="en-GB" sz="2800" dirty="0" smtClean="0"/>
          </a:p>
          <a:p>
            <a:r>
              <a:rPr lang="en-GB" sz="2800" dirty="0" smtClean="0"/>
              <a:t>If there are </a:t>
            </a:r>
            <a:r>
              <a:rPr lang="en-GB" sz="2800" b="1" dirty="0" smtClean="0"/>
              <a:t>n</a:t>
            </a:r>
            <a:r>
              <a:rPr lang="en-GB" sz="2800" dirty="0" smtClean="0"/>
              <a:t> elements,</a:t>
            </a:r>
          </a:p>
          <a:p>
            <a:r>
              <a:rPr lang="en-GB" sz="2800" dirty="0" smtClean="0"/>
              <a:t>Maximum comparisons = </a:t>
            </a:r>
            <a:r>
              <a:rPr lang="en-GB" sz="2800" b="1" dirty="0" smtClean="0"/>
              <a:t>n</a:t>
            </a:r>
            <a:endParaRPr lang="en-GB" sz="2800" dirty="0" smtClean="0"/>
          </a:p>
          <a:p>
            <a:r>
              <a:rPr lang="en-GB" sz="2800" dirty="0" smtClean="0"/>
              <a:t>Therefore,   </a:t>
            </a:r>
            <a:r>
              <a:rPr lang="en-GB" sz="2800" b="1" dirty="0" smtClean="0"/>
              <a:t>Worst Case = O(n)</a:t>
            </a:r>
            <a:endParaRPr lang="en-GB" sz="2800" dirty="0" smtClean="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pic>
        <p:nvPicPr>
          <p:cNvPr id="53250" name="Picture 2"/>
          <p:cNvPicPr>
            <a:picLocks noChangeAspect="1" noChangeArrowheads="1"/>
          </p:cNvPicPr>
          <p:nvPr/>
        </p:nvPicPr>
        <p:blipFill>
          <a:blip r:embed="rId2" cstate="print"/>
          <a:srcRect/>
          <a:stretch>
            <a:fillRect/>
          </a:stretch>
        </p:blipFill>
        <p:spPr bwMode="auto">
          <a:xfrm>
            <a:off x="5038725" y="3114675"/>
            <a:ext cx="4105275" cy="3743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sp>
        <p:nvSpPr>
          <p:cNvPr id="2049" name="Rectangle 1"/>
          <p:cNvSpPr>
            <a:spLocks noChangeArrowheads="1"/>
          </p:cNvSpPr>
          <p:nvPr/>
        </p:nvSpPr>
        <p:spPr bwMode="auto">
          <a:xfrm>
            <a:off x="0" y="-1810071"/>
            <a:ext cx="9372600" cy="94179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endParaRPr lang="en-GB" sz="2800" b="1" dirty="0" smtClean="0"/>
          </a:p>
          <a:p>
            <a:endParaRPr lang="en-GB" sz="2800" b="1" dirty="0" smtClean="0"/>
          </a:p>
          <a:p>
            <a:endParaRPr lang="en-GB" sz="2800" b="1" dirty="0" smtClean="0"/>
          </a:p>
          <a:p>
            <a:endParaRPr lang="en-GB" sz="2800" b="1" dirty="0" smtClean="0"/>
          </a:p>
          <a:p>
            <a:r>
              <a:rPr lang="en-GB" sz="2800" b="1" dirty="0" smtClean="0"/>
              <a:t>                                     2. Big-Omega (Ω)</a:t>
            </a:r>
          </a:p>
          <a:p>
            <a:r>
              <a:rPr lang="en-GB" sz="2800" b="1" dirty="0" smtClean="0"/>
              <a:t> </a:t>
            </a:r>
          </a:p>
          <a:p>
            <a:r>
              <a:rPr lang="en-GB" sz="2800" b="1" dirty="0" smtClean="0"/>
              <a:t>Big-Omega represents the lower bound or best-case performance of an algorithm.</a:t>
            </a:r>
            <a:endParaRPr lang="en-GB" sz="2800" dirty="0" smtClean="0"/>
          </a:p>
          <a:p>
            <a:r>
              <a:rPr lang="en-GB" sz="2800" dirty="0" smtClean="0"/>
              <a:t> </a:t>
            </a:r>
          </a:p>
          <a:p>
            <a:r>
              <a:rPr lang="en-GB" sz="2800" b="1" i="1" u="sng" dirty="0" smtClean="0"/>
              <a:t>Min amount required for execution is calculated( i e ..,Best Case) </a:t>
            </a:r>
          </a:p>
          <a:p>
            <a:endParaRPr lang="en-GB" sz="2800" b="1" i="1" u="sng" dirty="0" smtClean="0"/>
          </a:p>
          <a:p>
            <a:r>
              <a:rPr lang="en-GB" sz="2800" b="1" dirty="0" smtClean="0"/>
              <a:t>Example: Linear Search</a:t>
            </a:r>
          </a:p>
          <a:p>
            <a:r>
              <a:rPr lang="en-GB" sz="2800" dirty="0" smtClean="0"/>
              <a:t>10 20 30 40 50</a:t>
            </a:r>
          </a:p>
          <a:p>
            <a:endParaRPr lang="en-GB" sz="2800" dirty="0" smtClean="0"/>
          </a:p>
          <a:p>
            <a:r>
              <a:rPr lang="en-GB" sz="2800" dirty="0" smtClean="0"/>
              <a:t>Search for </a:t>
            </a:r>
            <a:r>
              <a:rPr lang="en-GB" sz="2800" b="1" dirty="0" smtClean="0"/>
              <a:t>10</a:t>
            </a:r>
            <a:endParaRPr lang="en-GB" sz="2800" dirty="0" smtClean="0"/>
          </a:p>
          <a:p>
            <a:r>
              <a:rPr lang="en-GB" sz="2800" dirty="0" smtClean="0"/>
              <a:t>10 ✓</a:t>
            </a:r>
          </a:p>
          <a:p>
            <a:r>
              <a:rPr lang="en-GB" sz="2800" dirty="0" smtClean="0"/>
              <a:t>Only one comparison.</a:t>
            </a:r>
          </a:p>
          <a:p>
            <a:r>
              <a:rPr lang="en-GB" sz="2800" dirty="0" smtClean="0"/>
              <a:t>Therefore,</a:t>
            </a:r>
          </a:p>
          <a:p>
            <a:r>
              <a:rPr lang="en-GB" sz="2800" b="1" dirty="0" smtClean="0"/>
              <a:t>Best Case = Ω(1)</a:t>
            </a:r>
            <a:endParaRPr lang="en-GB" sz="2800" dirty="0" smtClean="0"/>
          </a:p>
          <a:p>
            <a:endParaRPr lang="en-GB" sz="2800" dirty="0" smtClean="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pic>
        <p:nvPicPr>
          <p:cNvPr id="54274" name="Picture 2"/>
          <p:cNvPicPr>
            <a:picLocks noChangeAspect="1" noChangeArrowheads="1"/>
          </p:cNvPicPr>
          <p:nvPr/>
        </p:nvPicPr>
        <p:blipFill>
          <a:blip r:embed="rId2" cstate="print"/>
          <a:srcRect/>
          <a:stretch>
            <a:fillRect/>
          </a:stretch>
        </p:blipFill>
        <p:spPr bwMode="auto">
          <a:xfrm>
            <a:off x="3894394" y="3276600"/>
            <a:ext cx="5249606" cy="3276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sp>
        <p:nvSpPr>
          <p:cNvPr id="2049" name="Rectangle 1"/>
          <p:cNvSpPr>
            <a:spLocks noChangeArrowheads="1"/>
          </p:cNvSpPr>
          <p:nvPr/>
        </p:nvSpPr>
        <p:spPr bwMode="auto">
          <a:xfrm>
            <a:off x="0" y="-1799752"/>
            <a:ext cx="8915400" cy="855618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endParaRPr lang="en-GB" sz="2800" b="1" dirty="0" smtClean="0"/>
          </a:p>
          <a:p>
            <a:endParaRPr lang="en-GB" sz="2800" b="1" dirty="0" smtClean="0"/>
          </a:p>
          <a:p>
            <a:endParaRPr lang="en-GB" sz="2800" b="1" dirty="0" smtClean="0"/>
          </a:p>
          <a:p>
            <a:endParaRPr lang="en-GB" sz="2800" b="1" dirty="0" smtClean="0"/>
          </a:p>
          <a:p>
            <a:r>
              <a:rPr lang="en-GB" sz="2800" b="1" dirty="0" smtClean="0"/>
              <a:t>                                     3. Big-Theta (Θ)</a:t>
            </a:r>
          </a:p>
          <a:p>
            <a:r>
              <a:rPr lang="en-GB" sz="2800" b="1" dirty="0" smtClean="0"/>
              <a:t> </a:t>
            </a:r>
          </a:p>
          <a:p>
            <a:pPr algn="just"/>
            <a:r>
              <a:rPr lang="en-GB" sz="2800" b="1" dirty="0" smtClean="0"/>
              <a:t>Big-Theta represents the tight bound, describing the typical or average growth of an algorithm when both upper and lower bounds are the same order.</a:t>
            </a:r>
            <a:endParaRPr lang="en-GB" sz="2800" dirty="0" smtClean="0"/>
          </a:p>
          <a:p>
            <a:r>
              <a:rPr lang="en-GB" sz="2800" b="1" i="1" u="sng" dirty="0" smtClean="0"/>
              <a:t>Average amount required for execution is calculated( i e ..,Average Case)</a:t>
            </a:r>
            <a:endParaRPr lang="en-GB" sz="2800" b="1" dirty="0" smtClean="0"/>
          </a:p>
          <a:p>
            <a:r>
              <a:rPr lang="en-GB" sz="2800" b="1" dirty="0" smtClean="0"/>
              <a:t>Example</a:t>
            </a:r>
          </a:p>
          <a:p>
            <a:r>
              <a:rPr lang="en-GB" sz="2800" dirty="0" smtClean="0"/>
              <a:t>Linear Search</a:t>
            </a:r>
          </a:p>
          <a:p>
            <a:r>
              <a:rPr lang="en-GB" sz="2800" dirty="0" smtClean="0"/>
              <a:t>10 20 30 40 50</a:t>
            </a:r>
          </a:p>
          <a:p>
            <a:r>
              <a:rPr lang="en-GB" sz="2800" dirty="0" smtClean="0"/>
              <a:t>Search for </a:t>
            </a:r>
            <a:r>
              <a:rPr lang="en-GB" sz="2800" b="1" dirty="0" smtClean="0"/>
              <a:t>30</a:t>
            </a:r>
            <a:r>
              <a:rPr lang="en-GB" sz="2800" dirty="0" smtClean="0"/>
              <a:t>.</a:t>
            </a:r>
          </a:p>
          <a:p>
            <a:r>
              <a:rPr lang="en-GB" sz="2800" dirty="0" smtClean="0"/>
              <a:t>Average comparisons</a:t>
            </a:r>
          </a:p>
          <a:p>
            <a:r>
              <a:rPr lang="en-GB" sz="2800" dirty="0" smtClean="0"/>
              <a:t>(n+1)/2</a:t>
            </a:r>
          </a:p>
          <a:p>
            <a:r>
              <a:rPr lang="en-GB" sz="2800" dirty="0" smtClean="0"/>
              <a:t>Therefore,</a:t>
            </a:r>
          </a:p>
          <a:p>
            <a:r>
              <a:rPr lang="en-GB" sz="2800" b="1" dirty="0" smtClean="0"/>
              <a:t>Average Case = </a:t>
            </a:r>
            <a:r>
              <a:rPr lang="en-GB" sz="2800" dirty="0" smtClean="0"/>
              <a:t>Θ(n)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pic>
        <p:nvPicPr>
          <p:cNvPr id="55298" name="Picture 2"/>
          <p:cNvPicPr>
            <a:picLocks noChangeAspect="1" noChangeArrowheads="1"/>
          </p:cNvPicPr>
          <p:nvPr/>
        </p:nvPicPr>
        <p:blipFill>
          <a:blip r:embed="rId2" cstate="print"/>
          <a:srcRect/>
          <a:stretch>
            <a:fillRect/>
          </a:stretch>
        </p:blipFill>
        <p:spPr bwMode="auto">
          <a:xfrm>
            <a:off x="4953000" y="2792730"/>
            <a:ext cx="4191000" cy="406527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pic>
        <p:nvPicPr>
          <p:cNvPr id="48130" name="Picture 2"/>
          <p:cNvPicPr>
            <a:picLocks noChangeAspect="1" noChangeArrowheads="1"/>
          </p:cNvPicPr>
          <p:nvPr/>
        </p:nvPicPr>
        <p:blipFill>
          <a:blip r:embed="rId2" cstate="print"/>
          <a:srcRect/>
          <a:stretch>
            <a:fillRect/>
          </a:stretch>
        </p:blipFill>
        <p:spPr bwMode="auto">
          <a:xfrm>
            <a:off x="0" y="0"/>
            <a:ext cx="8915400" cy="670641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sp>
        <p:nvSpPr>
          <p:cNvPr id="5" name="Rectangle 4"/>
          <p:cNvSpPr/>
          <p:nvPr/>
        </p:nvSpPr>
        <p:spPr>
          <a:xfrm>
            <a:off x="457200" y="381000"/>
            <a:ext cx="8229600" cy="2246769"/>
          </a:xfrm>
          <a:prstGeom prst="rect">
            <a:avLst/>
          </a:prstGeom>
        </p:spPr>
        <p:txBody>
          <a:bodyPr wrap="square">
            <a:spAutoFit/>
          </a:bodyPr>
          <a:lstStyle/>
          <a:p>
            <a:pPr algn="ctr"/>
            <a:r>
              <a:rPr lang="en-GB" sz="2800" b="1" dirty="0" smtClean="0"/>
              <a:t>Analysis of non-recursive and recursive algorithms 	 </a:t>
            </a:r>
          </a:p>
          <a:p>
            <a:pPr algn="just"/>
            <a:r>
              <a:rPr lang="en-GB" sz="2800" dirty="0" smtClean="0"/>
              <a:t>Non-recursive algorithms use loops, whereas recursive algorithms solve a problem by calling themselves repeatedly until a base condition is reached.</a:t>
            </a:r>
            <a:endParaRPr lang="en-GB" sz="2800" dirty="0" smtClean="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sp>
        <p:nvSpPr>
          <p:cNvPr id="5" name="Rectangle 4"/>
          <p:cNvSpPr/>
          <p:nvPr/>
        </p:nvSpPr>
        <p:spPr>
          <a:xfrm>
            <a:off x="457200" y="117693"/>
            <a:ext cx="8229600" cy="6370975"/>
          </a:xfrm>
          <a:prstGeom prst="rect">
            <a:avLst/>
          </a:prstGeom>
        </p:spPr>
        <p:txBody>
          <a:bodyPr wrap="square">
            <a:spAutoFit/>
          </a:bodyPr>
          <a:lstStyle/>
          <a:p>
            <a:pPr algn="ctr"/>
            <a:r>
              <a:rPr lang="en-US" sz="2400" b="1" dirty="0" smtClean="0"/>
              <a:t>Analysis of Non-Recursive Algorithms</a:t>
            </a:r>
          </a:p>
          <a:p>
            <a:r>
              <a:rPr lang="en-US" sz="2400" b="1" dirty="0" smtClean="0"/>
              <a:t>A </a:t>
            </a:r>
            <a:r>
              <a:rPr lang="en-US" sz="2400" b="1" dirty="0" smtClean="0"/>
              <a:t>non-recursive algorithm is an algorithm that does not call itself. It uses loops (for, while, do-while) to solve a problem</a:t>
            </a:r>
            <a:r>
              <a:rPr lang="en-US" sz="2400" b="1" dirty="0" smtClean="0"/>
              <a:t>.</a:t>
            </a:r>
          </a:p>
          <a:p>
            <a:endParaRPr lang="en-US" sz="2400" b="1" dirty="0" smtClean="0"/>
          </a:p>
          <a:p>
            <a:r>
              <a:rPr lang="en-US" sz="2400" b="1" u="sng" dirty="0" smtClean="0"/>
              <a:t>(calculate Time and space complexity </a:t>
            </a:r>
            <a:r>
              <a:rPr lang="en-US" sz="2400" b="1" u="sng" dirty="0" smtClean="0"/>
              <a:t>)</a:t>
            </a:r>
          </a:p>
          <a:p>
            <a:endParaRPr lang="en-GB" sz="2400" b="1" u="sng" dirty="0" smtClean="0"/>
          </a:p>
          <a:p>
            <a:r>
              <a:rPr lang="en-US" sz="2400" b="1" dirty="0" smtClean="0"/>
              <a:t>Example </a:t>
            </a:r>
            <a:r>
              <a:rPr lang="en-US" sz="2400" b="1" dirty="0" smtClean="0"/>
              <a:t>1: Sum of n </a:t>
            </a:r>
            <a:r>
              <a:rPr lang="en-US" sz="2400" b="1" dirty="0" smtClean="0"/>
              <a:t>Numbers</a:t>
            </a:r>
          </a:p>
          <a:p>
            <a:r>
              <a:rPr lang="en-US" sz="2400" dirty="0" smtClean="0"/>
              <a:t>#</a:t>
            </a:r>
            <a:r>
              <a:rPr lang="en-US" sz="2400" dirty="0" smtClean="0"/>
              <a:t>include&lt;</a:t>
            </a:r>
            <a:r>
              <a:rPr lang="en-US" sz="2400" dirty="0" err="1" smtClean="0"/>
              <a:t>stdio.h</a:t>
            </a:r>
            <a:r>
              <a:rPr lang="en-US" sz="2400" dirty="0" smtClean="0"/>
              <a:t>&gt;</a:t>
            </a:r>
          </a:p>
          <a:p>
            <a:r>
              <a:rPr lang="en-US" sz="2400" dirty="0" smtClean="0"/>
              <a:t> </a:t>
            </a:r>
            <a:r>
              <a:rPr lang="en-US" sz="2400" dirty="0" err="1" smtClean="0"/>
              <a:t>int</a:t>
            </a:r>
            <a:r>
              <a:rPr lang="en-US" sz="2400" dirty="0" smtClean="0"/>
              <a:t> main() { </a:t>
            </a:r>
            <a:endParaRPr lang="en-US" sz="2400" dirty="0" smtClean="0"/>
          </a:p>
          <a:p>
            <a:r>
              <a:rPr lang="en-US" sz="2400" dirty="0" err="1" smtClean="0"/>
              <a:t>int</a:t>
            </a:r>
            <a:r>
              <a:rPr lang="en-US" sz="2400" dirty="0" smtClean="0"/>
              <a:t> </a:t>
            </a:r>
            <a:r>
              <a:rPr lang="en-US" sz="2400" dirty="0" smtClean="0"/>
              <a:t>i, n, sum = 0; </a:t>
            </a:r>
            <a:endParaRPr lang="en-US" sz="2400" dirty="0" smtClean="0"/>
          </a:p>
          <a:p>
            <a:r>
              <a:rPr lang="en-US" sz="2400" dirty="0" err="1" smtClean="0"/>
              <a:t>printf</a:t>
            </a:r>
            <a:r>
              <a:rPr lang="en-US" sz="2400" dirty="0" smtClean="0"/>
              <a:t>("Enter n: </a:t>
            </a:r>
            <a:r>
              <a:rPr lang="en-US" sz="2400" dirty="0" smtClean="0"/>
              <a:t>");</a:t>
            </a:r>
          </a:p>
          <a:p>
            <a:r>
              <a:rPr lang="en-US" sz="2400" dirty="0" smtClean="0"/>
              <a:t> </a:t>
            </a:r>
            <a:r>
              <a:rPr lang="en-US" sz="2400" dirty="0" err="1" smtClean="0"/>
              <a:t>scanf</a:t>
            </a:r>
            <a:r>
              <a:rPr lang="en-US" sz="2400" dirty="0" smtClean="0"/>
              <a:t>("%d", &amp;n); </a:t>
            </a:r>
            <a:endParaRPr lang="en-US" sz="2400" dirty="0" smtClean="0"/>
          </a:p>
          <a:p>
            <a:r>
              <a:rPr lang="en-US" sz="2400" dirty="0" smtClean="0"/>
              <a:t>for(i </a:t>
            </a:r>
            <a:r>
              <a:rPr lang="en-US" sz="2400" dirty="0" smtClean="0"/>
              <a:t>= 1; i &lt;= n; i</a:t>
            </a:r>
            <a:r>
              <a:rPr lang="en-US" sz="2400" dirty="0" smtClean="0"/>
              <a:t>++)</a:t>
            </a:r>
          </a:p>
          <a:p>
            <a:r>
              <a:rPr lang="en-US" sz="2400" dirty="0" smtClean="0"/>
              <a:t> {</a:t>
            </a:r>
          </a:p>
          <a:p>
            <a:r>
              <a:rPr lang="en-US" sz="2400" dirty="0" smtClean="0"/>
              <a:t> </a:t>
            </a:r>
            <a:r>
              <a:rPr lang="en-US" sz="2400" dirty="0" smtClean="0"/>
              <a:t>sum = sum + i; </a:t>
            </a:r>
            <a:endParaRPr lang="en-US" sz="2400" dirty="0" smtClean="0"/>
          </a:p>
          <a:p>
            <a:r>
              <a:rPr lang="en-US" sz="2400" dirty="0" smtClean="0"/>
              <a:t>} </a:t>
            </a:r>
          </a:p>
          <a:p>
            <a:r>
              <a:rPr lang="en-US" sz="2400" dirty="0" err="1" smtClean="0"/>
              <a:t>printf</a:t>
            </a:r>
            <a:r>
              <a:rPr lang="en-US" sz="2400" dirty="0" smtClean="0"/>
              <a:t>("Sum = %d", sum); return 0; }</a:t>
            </a:r>
            <a:endParaRPr lang="en-US" sz="24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sp>
        <p:nvSpPr>
          <p:cNvPr id="5" name="Rectangle 4"/>
          <p:cNvSpPr/>
          <p:nvPr/>
        </p:nvSpPr>
        <p:spPr>
          <a:xfrm>
            <a:off x="457200" y="117693"/>
            <a:ext cx="8229600" cy="3785652"/>
          </a:xfrm>
          <a:prstGeom prst="rect">
            <a:avLst/>
          </a:prstGeom>
        </p:spPr>
        <p:txBody>
          <a:bodyPr wrap="square">
            <a:spAutoFit/>
          </a:bodyPr>
          <a:lstStyle/>
          <a:p>
            <a:pPr algn="ctr"/>
            <a:r>
              <a:rPr lang="en-US" sz="2400" b="1" dirty="0" smtClean="0"/>
              <a:t>Analysis of Non-Recursive Algorithms</a:t>
            </a:r>
          </a:p>
          <a:p>
            <a:endParaRPr lang="en-GB" sz="2400" b="1" dirty="0" smtClean="0"/>
          </a:p>
          <a:p>
            <a:endParaRPr lang="en-GB" sz="2400" b="1" dirty="0" smtClean="0"/>
          </a:p>
          <a:p>
            <a:r>
              <a:rPr lang="en-US" sz="2400" b="1" dirty="0" smtClean="0"/>
              <a:t>Example 1: Sum of n </a:t>
            </a:r>
            <a:r>
              <a:rPr lang="en-US" sz="2400" b="1" dirty="0" smtClean="0"/>
              <a:t>Numbers</a:t>
            </a:r>
          </a:p>
          <a:p>
            <a:endParaRPr lang="en-GB" sz="2400" b="1" dirty="0" smtClean="0"/>
          </a:p>
          <a:p>
            <a:r>
              <a:rPr lang="en-GB" sz="2400" b="1" dirty="0" smtClean="0"/>
              <a:t>Time complexity =?</a:t>
            </a:r>
          </a:p>
          <a:p>
            <a:endParaRPr lang="en-GB" sz="2400" b="1" dirty="0" smtClean="0"/>
          </a:p>
          <a:p>
            <a:r>
              <a:rPr lang="en-GB" sz="2400" b="1" dirty="0" smtClean="0"/>
              <a:t>Space complexity =?</a:t>
            </a:r>
          </a:p>
          <a:p>
            <a:endParaRPr lang="en-GB" sz="2400" b="1" dirty="0" smtClean="0"/>
          </a:p>
          <a:p>
            <a:endParaRPr lang="en-US" sz="2400" b="1" dirty="0" smtClean="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sp>
        <p:nvSpPr>
          <p:cNvPr id="5" name="Rectangle 4"/>
          <p:cNvSpPr/>
          <p:nvPr/>
        </p:nvSpPr>
        <p:spPr>
          <a:xfrm>
            <a:off x="457200" y="117693"/>
            <a:ext cx="8229600" cy="3785652"/>
          </a:xfrm>
          <a:prstGeom prst="rect">
            <a:avLst/>
          </a:prstGeom>
        </p:spPr>
        <p:txBody>
          <a:bodyPr wrap="square">
            <a:spAutoFit/>
          </a:bodyPr>
          <a:lstStyle/>
          <a:p>
            <a:pPr algn="ctr"/>
            <a:r>
              <a:rPr lang="en-US" sz="2400" b="1" dirty="0" smtClean="0"/>
              <a:t>Analysis of Non-Recursive Algorithms</a:t>
            </a:r>
          </a:p>
          <a:p>
            <a:endParaRPr lang="en-GB" sz="2400" b="1" dirty="0" smtClean="0"/>
          </a:p>
          <a:p>
            <a:endParaRPr lang="en-GB" sz="2400" b="1" dirty="0" smtClean="0"/>
          </a:p>
          <a:p>
            <a:r>
              <a:rPr lang="en-US" sz="2400" b="1" dirty="0" smtClean="0"/>
              <a:t>Example 1: Sum of n </a:t>
            </a:r>
            <a:r>
              <a:rPr lang="en-US" sz="2400" b="1" dirty="0" smtClean="0"/>
              <a:t>Numbers</a:t>
            </a:r>
          </a:p>
          <a:p>
            <a:endParaRPr lang="en-GB" sz="2400" b="1" dirty="0" smtClean="0"/>
          </a:p>
          <a:p>
            <a:r>
              <a:rPr lang="en-GB" sz="2400" b="1" dirty="0" smtClean="0"/>
              <a:t>Time complexity =O(n)</a:t>
            </a:r>
          </a:p>
          <a:p>
            <a:endParaRPr lang="en-GB" sz="2400" b="1" dirty="0" smtClean="0"/>
          </a:p>
          <a:p>
            <a:r>
              <a:rPr lang="en-GB" sz="2400" b="1" dirty="0" smtClean="0"/>
              <a:t>Space complexity =O(1)</a:t>
            </a:r>
          </a:p>
          <a:p>
            <a:endParaRPr lang="en-GB" sz="2400" b="1" dirty="0" smtClean="0"/>
          </a:p>
          <a:p>
            <a:endParaRPr lang="en-US" sz="2400" b="1" dirty="0" smtClean="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sp>
        <p:nvSpPr>
          <p:cNvPr id="5" name="Rectangle 4"/>
          <p:cNvSpPr/>
          <p:nvPr/>
        </p:nvSpPr>
        <p:spPr>
          <a:xfrm>
            <a:off x="457200" y="117693"/>
            <a:ext cx="8229600" cy="7109639"/>
          </a:xfrm>
          <a:prstGeom prst="rect">
            <a:avLst/>
          </a:prstGeom>
        </p:spPr>
        <p:txBody>
          <a:bodyPr wrap="square">
            <a:spAutoFit/>
          </a:bodyPr>
          <a:lstStyle/>
          <a:p>
            <a:pPr algn="ctr"/>
            <a:r>
              <a:rPr lang="en-US" sz="2400" b="1" dirty="0" smtClean="0"/>
              <a:t>Analysis of Non-Recursive Algorithms</a:t>
            </a:r>
          </a:p>
          <a:p>
            <a:r>
              <a:rPr lang="en-US" sz="2400" b="1" dirty="0" smtClean="0"/>
              <a:t>Example 2:</a:t>
            </a:r>
          </a:p>
          <a:p>
            <a:endParaRPr lang="en-GB" sz="2400" b="1" dirty="0" smtClean="0"/>
          </a:p>
          <a:p>
            <a:r>
              <a:rPr lang="en-GB" sz="2400" dirty="0" smtClean="0"/>
              <a:t>for(i=0;i&lt;</a:t>
            </a:r>
            <a:r>
              <a:rPr lang="en-GB" sz="2400" dirty="0" err="1" smtClean="0"/>
              <a:t>n;i</a:t>
            </a:r>
            <a:r>
              <a:rPr lang="en-GB" sz="2400" dirty="0" smtClean="0"/>
              <a:t>++)                    // </a:t>
            </a:r>
            <a:r>
              <a:rPr lang="en-GB" sz="2400" dirty="0" smtClean="0"/>
              <a:t>Outer loop runs n times</a:t>
            </a:r>
          </a:p>
          <a:p>
            <a:r>
              <a:rPr lang="en-GB" sz="2400" dirty="0" smtClean="0"/>
              <a:t>{</a:t>
            </a:r>
            <a:endParaRPr lang="en-GB" sz="2400" dirty="0" smtClean="0"/>
          </a:p>
          <a:p>
            <a:r>
              <a:rPr lang="en-GB" sz="2400" dirty="0" smtClean="0"/>
              <a:t>    for(j=0;j&lt;</a:t>
            </a:r>
            <a:r>
              <a:rPr lang="en-GB" sz="2400" dirty="0" err="1" smtClean="0"/>
              <a:t>n;j</a:t>
            </a:r>
            <a:r>
              <a:rPr lang="en-GB" sz="2400" dirty="0" smtClean="0"/>
              <a:t>++)             // </a:t>
            </a:r>
            <a:r>
              <a:rPr lang="en-GB" sz="2400" dirty="0" smtClean="0"/>
              <a:t>Inner loop runs n times</a:t>
            </a:r>
          </a:p>
          <a:p>
            <a:r>
              <a:rPr lang="en-GB" sz="2400" dirty="0" smtClean="0"/>
              <a:t>    </a:t>
            </a:r>
            <a:r>
              <a:rPr lang="en-GB" sz="2400" dirty="0" smtClean="0"/>
              <a:t>{</a:t>
            </a:r>
          </a:p>
          <a:p>
            <a:r>
              <a:rPr lang="en-GB" sz="2400" dirty="0" smtClean="0"/>
              <a:t>        </a:t>
            </a:r>
            <a:r>
              <a:rPr lang="en-GB" sz="2400" dirty="0" err="1" smtClean="0"/>
              <a:t>printf</a:t>
            </a:r>
            <a:r>
              <a:rPr lang="en-GB" sz="2400" dirty="0" smtClean="0"/>
              <a:t>("*");</a:t>
            </a:r>
          </a:p>
          <a:p>
            <a:r>
              <a:rPr lang="en-GB" sz="2400" dirty="0" smtClean="0"/>
              <a:t>    }</a:t>
            </a:r>
          </a:p>
          <a:p>
            <a:r>
              <a:rPr lang="en-GB" sz="2400" dirty="0" smtClean="0"/>
              <a:t>}</a:t>
            </a:r>
            <a:endParaRPr lang="en-GB" sz="2400" dirty="0" smtClean="0"/>
          </a:p>
          <a:p>
            <a:endParaRPr lang="en-GB" sz="2400" b="1" dirty="0" smtClean="0"/>
          </a:p>
          <a:p>
            <a:r>
              <a:rPr lang="en-GB" sz="2400" b="1" dirty="0" smtClean="0"/>
              <a:t>Outer loop runs n times</a:t>
            </a:r>
          </a:p>
          <a:p>
            <a:r>
              <a:rPr lang="en-GB" sz="2400" b="1" dirty="0" smtClean="0"/>
              <a:t>Inner loop runs n times</a:t>
            </a:r>
          </a:p>
          <a:p>
            <a:endParaRPr lang="en-GB" sz="2400" b="1" dirty="0" smtClean="0"/>
          </a:p>
          <a:p>
            <a:r>
              <a:rPr lang="en-GB" sz="2400" b="1" dirty="0" smtClean="0"/>
              <a:t>Time complexity = ?</a:t>
            </a:r>
          </a:p>
          <a:p>
            <a:endParaRPr lang="en-GB" sz="2400" b="1" dirty="0" smtClean="0"/>
          </a:p>
          <a:p>
            <a:r>
              <a:rPr lang="en-GB" sz="2400" b="1" dirty="0" smtClean="0"/>
              <a:t>Space complexity =?</a:t>
            </a:r>
          </a:p>
          <a:p>
            <a:endParaRPr lang="en-GB" sz="2400" b="1" dirty="0" smtClean="0"/>
          </a:p>
          <a:p>
            <a:endParaRPr lang="en-US" sz="2400" b="1" dirty="0" smtClean="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sp>
        <p:nvSpPr>
          <p:cNvPr id="5" name="Rectangle 4"/>
          <p:cNvSpPr/>
          <p:nvPr/>
        </p:nvSpPr>
        <p:spPr>
          <a:xfrm>
            <a:off x="457200" y="117693"/>
            <a:ext cx="8229600" cy="7109639"/>
          </a:xfrm>
          <a:prstGeom prst="rect">
            <a:avLst/>
          </a:prstGeom>
        </p:spPr>
        <p:txBody>
          <a:bodyPr wrap="square">
            <a:spAutoFit/>
          </a:bodyPr>
          <a:lstStyle/>
          <a:p>
            <a:pPr algn="ctr"/>
            <a:r>
              <a:rPr lang="en-US" sz="2400" b="1" dirty="0" smtClean="0"/>
              <a:t>Analysis of Non-Recursive Algorithms</a:t>
            </a:r>
          </a:p>
          <a:p>
            <a:r>
              <a:rPr lang="en-US" sz="2400" b="1" dirty="0" smtClean="0"/>
              <a:t>Example 2:</a:t>
            </a:r>
          </a:p>
          <a:p>
            <a:endParaRPr lang="en-GB" sz="2400" b="1" dirty="0" smtClean="0"/>
          </a:p>
          <a:p>
            <a:r>
              <a:rPr lang="en-GB" sz="2400" dirty="0" smtClean="0"/>
              <a:t>for(i=0;i&lt;</a:t>
            </a:r>
            <a:r>
              <a:rPr lang="en-GB" sz="2400" dirty="0" err="1" smtClean="0"/>
              <a:t>n;i</a:t>
            </a:r>
            <a:r>
              <a:rPr lang="en-GB" sz="2400" dirty="0" smtClean="0"/>
              <a:t>++)                    // </a:t>
            </a:r>
            <a:r>
              <a:rPr lang="en-GB" sz="2400" dirty="0" smtClean="0"/>
              <a:t>Outer loop runs n times</a:t>
            </a:r>
          </a:p>
          <a:p>
            <a:r>
              <a:rPr lang="en-GB" sz="2400" dirty="0" smtClean="0"/>
              <a:t>{</a:t>
            </a:r>
            <a:endParaRPr lang="en-GB" sz="2400" dirty="0" smtClean="0"/>
          </a:p>
          <a:p>
            <a:r>
              <a:rPr lang="en-GB" sz="2400" dirty="0" smtClean="0"/>
              <a:t>    for(j=0;j&lt;</a:t>
            </a:r>
            <a:r>
              <a:rPr lang="en-GB" sz="2400" dirty="0" err="1" smtClean="0"/>
              <a:t>n;j</a:t>
            </a:r>
            <a:r>
              <a:rPr lang="en-GB" sz="2400" dirty="0" smtClean="0"/>
              <a:t>++)             // </a:t>
            </a:r>
            <a:r>
              <a:rPr lang="en-GB" sz="2400" dirty="0" smtClean="0"/>
              <a:t>Inner loop runs n times</a:t>
            </a:r>
          </a:p>
          <a:p>
            <a:r>
              <a:rPr lang="en-GB" sz="2400" dirty="0" smtClean="0"/>
              <a:t>    </a:t>
            </a:r>
            <a:r>
              <a:rPr lang="en-GB" sz="2400" dirty="0" smtClean="0"/>
              <a:t>{</a:t>
            </a:r>
          </a:p>
          <a:p>
            <a:r>
              <a:rPr lang="en-GB" sz="2400" dirty="0" smtClean="0"/>
              <a:t>        </a:t>
            </a:r>
            <a:r>
              <a:rPr lang="en-GB" sz="2400" dirty="0" err="1" smtClean="0"/>
              <a:t>printf</a:t>
            </a:r>
            <a:r>
              <a:rPr lang="en-GB" sz="2400" dirty="0" smtClean="0"/>
              <a:t>("*");</a:t>
            </a:r>
          </a:p>
          <a:p>
            <a:r>
              <a:rPr lang="en-GB" sz="2400" dirty="0" smtClean="0"/>
              <a:t>    }</a:t>
            </a:r>
          </a:p>
          <a:p>
            <a:r>
              <a:rPr lang="en-GB" sz="2400" dirty="0" smtClean="0"/>
              <a:t>}</a:t>
            </a:r>
            <a:endParaRPr lang="en-GB" sz="2400" dirty="0" smtClean="0"/>
          </a:p>
          <a:p>
            <a:endParaRPr lang="en-GB" sz="2400" b="1" dirty="0" smtClean="0"/>
          </a:p>
          <a:p>
            <a:r>
              <a:rPr lang="en-GB" sz="2400" b="1" dirty="0" smtClean="0"/>
              <a:t>Outer loop runs n times</a:t>
            </a:r>
          </a:p>
          <a:p>
            <a:r>
              <a:rPr lang="en-GB" sz="2400" b="1" dirty="0" smtClean="0"/>
              <a:t>Inner loop runs n times</a:t>
            </a:r>
          </a:p>
          <a:p>
            <a:endParaRPr lang="en-GB" sz="2400" b="1" dirty="0" smtClean="0"/>
          </a:p>
          <a:p>
            <a:r>
              <a:rPr lang="en-GB" sz="2400" b="1" dirty="0" smtClean="0"/>
              <a:t>Time complexity = (n * n)= O(</a:t>
            </a:r>
            <a:r>
              <a:rPr lang="en-US" sz="2400" b="1" dirty="0" smtClean="0"/>
              <a:t>n²</a:t>
            </a:r>
            <a:r>
              <a:rPr lang="en-GB" sz="2400" b="1" dirty="0" smtClean="0"/>
              <a:t>)</a:t>
            </a:r>
          </a:p>
          <a:p>
            <a:endParaRPr lang="en-GB" sz="2400" b="1" dirty="0" smtClean="0"/>
          </a:p>
          <a:p>
            <a:r>
              <a:rPr lang="en-GB" sz="2400" b="1" dirty="0" smtClean="0"/>
              <a:t>Space complexity =O(1)</a:t>
            </a:r>
          </a:p>
          <a:p>
            <a:endParaRPr lang="en-GB" sz="2400" b="1" dirty="0" smtClean="0"/>
          </a:p>
          <a:p>
            <a:endParaRPr lang="en-US" sz="2400" b="1" dirty="0" smtClean="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sp>
        <p:nvSpPr>
          <p:cNvPr id="5" name="Rectangle 4"/>
          <p:cNvSpPr/>
          <p:nvPr/>
        </p:nvSpPr>
        <p:spPr>
          <a:xfrm>
            <a:off x="457200" y="117693"/>
            <a:ext cx="8229600" cy="7109639"/>
          </a:xfrm>
          <a:prstGeom prst="rect">
            <a:avLst/>
          </a:prstGeom>
        </p:spPr>
        <p:txBody>
          <a:bodyPr wrap="square">
            <a:spAutoFit/>
          </a:bodyPr>
          <a:lstStyle/>
          <a:p>
            <a:pPr algn="ctr"/>
            <a:r>
              <a:rPr lang="en-GB" sz="2400" b="1" dirty="0" smtClean="0"/>
              <a:t>               Analysis </a:t>
            </a:r>
            <a:r>
              <a:rPr lang="en-GB" sz="2400" b="1" dirty="0" smtClean="0"/>
              <a:t>of Recursive Algorithms</a:t>
            </a:r>
          </a:p>
          <a:p>
            <a:r>
              <a:rPr lang="en-GB" sz="2400" b="1" dirty="0" smtClean="0"/>
              <a:t> A </a:t>
            </a:r>
            <a:r>
              <a:rPr lang="en-GB" sz="2400" b="1" dirty="0" smtClean="0"/>
              <a:t>recursive algorithm is an algorithm that solves a problem by calling itself until a base condition is reached</a:t>
            </a:r>
            <a:r>
              <a:rPr lang="en-GB" sz="2400" b="1" dirty="0" smtClean="0"/>
              <a:t>.</a:t>
            </a:r>
          </a:p>
          <a:p>
            <a:endParaRPr lang="en-GB" sz="2400" b="1" dirty="0" smtClean="0"/>
          </a:p>
          <a:p>
            <a:r>
              <a:rPr lang="en-US" sz="2400" b="1" dirty="0" smtClean="0"/>
              <a:t>Example:1  Factorial of a given number</a:t>
            </a:r>
            <a:endParaRPr lang="en-US" sz="2400" b="1" dirty="0" smtClean="0"/>
          </a:p>
          <a:p>
            <a:r>
              <a:rPr lang="en-GB" sz="2400" dirty="0" smtClean="0"/>
              <a:t>#include&lt;</a:t>
            </a:r>
            <a:r>
              <a:rPr lang="en-GB" sz="2400" dirty="0" err="1" smtClean="0"/>
              <a:t>stdio.h</a:t>
            </a:r>
            <a:r>
              <a:rPr lang="en-GB" sz="2400" dirty="0" smtClean="0"/>
              <a:t>&gt;</a:t>
            </a:r>
          </a:p>
          <a:p>
            <a:r>
              <a:rPr lang="en-GB" sz="2400" dirty="0" err="1" smtClean="0"/>
              <a:t>int</a:t>
            </a:r>
            <a:r>
              <a:rPr lang="en-GB" sz="2400" dirty="0" smtClean="0"/>
              <a:t> </a:t>
            </a:r>
            <a:r>
              <a:rPr lang="en-GB" sz="2400" b="1" dirty="0" smtClean="0"/>
              <a:t>fact(</a:t>
            </a:r>
            <a:r>
              <a:rPr lang="en-GB" sz="2400" b="1" dirty="0" err="1" smtClean="0"/>
              <a:t>int</a:t>
            </a:r>
            <a:r>
              <a:rPr lang="en-GB" sz="2400" b="1" dirty="0" smtClean="0"/>
              <a:t> n)</a:t>
            </a:r>
          </a:p>
          <a:p>
            <a:r>
              <a:rPr lang="en-GB" sz="2400" dirty="0" smtClean="0"/>
              <a:t>{</a:t>
            </a:r>
          </a:p>
          <a:p>
            <a:r>
              <a:rPr lang="en-GB" sz="2400" dirty="0" smtClean="0"/>
              <a:t>    if(n==1)</a:t>
            </a:r>
          </a:p>
          <a:p>
            <a:r>
              <a:rPr lang="en-GB" sz="2400" dirty="0" smtClean="0"/>
              <a:t>        return 1;</a:t>
            </a:r>
          </a:p>
          <a:p>
            <a:r>
              <a:rPr lang="en-GB" sz="2400" dirty="0" smtClean="0"/>
              <a:t>    </a:t>
            </a:r>
            <a:r>
              <a:rPr lang="en-GB" sz="2400" dirty="0" smtClean="0"/>
              <a:t>return n * </a:t>
            </a:r>
            <a:r>
              <a:rPr lang="en-GB" sz="2400" b="1" dirty="0" smtClean="0"/>
              <a:t>fact(n-1);</a:t>
            </a:r>
          </a:p>
          <a:p>
            <a:r>
              <a:rPr lang="en-GB" sz="2400" dirty="0" smtClean="0"/>
              <a:t>}</a:t>
            </a:r>
          </a:p>
          <a:p>
            <a:r>
              <a:rPr lang="en-GB" sz="2400" dirty="0" err="1" smtClean="0"/>
              <a:t>int</a:t>
            </a:r>
            <a:r>
              <a:rPr lang="en-GB" sz="2400" dirty="0" smtClean="0"/>
              <a:t> </a:t>
            </a:r>
            <a:r>
              <a:rPr lang="en-GB" sz="2400" dirty="0" smtClean="0"/>
              <a:t>main()</a:t>
            </a:r>
          </a:p>
          <a:p>
            <a:r>
              <a:rPr lang="en-GB" sz="2400" dirty="0" smtClean="0"/>
              <a:t>{</a:t>
            </a:r>
          </a:p>
          <a:p>
            <a:r>
              <a:rPr lang="en-GB" sz="2400" dirty="0" smtClean="0"/>
              <a:t>    </a:t>
            </a:r>
            <a:r>
              <a:rPr lang="en-GB" sz="2400" dirty="0" err="1" smtClean="0"/>
              <a:t>printf</a:t>
            </a:r>
            <a:r>
              <a:rPr lang="en-GB" sz="2400" dirty="0" smtClean="0"/>
              <a:t>("%</a:t>
            </a:r>
            <a:r>
              <a:rPr lang="en-GB" sz="2400" dirty="0" err="1" smtClean="0"/>
              <a:t>d",fact</a:t>
            </a:r>
            <a:r>
              <a:rPr lang="en-GB" sz="2400" dirty="0" smtClean="0"/>
              <a:t>(5));</a:t>
            </a:r>
          </a:p>
          <a:p>
            <a:r>
              <a:rPr lang="en-GB" sz="2400" dirty="0" smtClean="0"/>
              <a:t>}</a:t>
            </a:r>
          </a:p>
          <a:p>
            <a:r>
              <a:rPr lang="en-GB" sz="2400" b="1" dirty="0" smtClean="0"/>
              <a:t>Time complexity= ?  Space complexity=?</a:t>
            </a:r>
          </a:p>
          <a:p>
            <a:endParaRPr lang="en-GB" sz="2400" b="1" dirty="0" smtClean="0"/>
          </a:p>
          <a:p>
            <a:endParaRPr lang="en-US" sz="2400" b="1" dirty="0" smtClean="0"/>
          </a:p>
        </p:txBody>
      </p:sp>
      <p:sp>
        <p:nvSpPr>
          <p:cNvPr id="7" name="Rectangle 6"/>
          <p:cNvSpPr/>
          <p:nvPr/>
        </p:nvSpPr>
        <p:spPr>
          <a:xfrm>
            <a:off x="6172200" y="1752600"/>
            <a:ext cx="2971800" cy="4893647"/>
          </a:xfrm>
          <a:prstGeom prst="rect">
            <a:avLst/>
          </a:prstGeom>
        </p:spPr>
        <p:txBody>
          <a:bodyPr wrap="square">
            <a:spAutoFit/>
          </a:bodyPr>
          <a:lstStyle/>
          <a:p>
            <a:r>
              <a:rPr lang="en-GB" sz="2400" b="1" u="sng" dirty="0" smtClean="0"/>
              <a:t>How it is executed</a:t>
            </a:r>
          </a:p>
          <a:p>
            <a:endParaRPr lang="en-GB" sz="2400" b="1" dirty="0" smtClean="0"/>
          </a:p>
          <a:p>
            <a:r>
              <a:rPr lang="en-GB" sz="2400" b="1" dirty="0" smtClean="0"/>
              <a:t>fact(5</a:t>
            </a:r>
            <a:r>
              <a:rPr lang="en-GB" sz="2400" b="1" dirty="0" smtClean="0"/>
              <a:t>)</a:t>
            </a:r>
          </a:p>
          <a:p>
            <a:r>
              <a:rPr lang="en-GB" sz="2400" b="1" dirty="0" smtClean="0"/>
              <a:t>↓</a:t>
            </a:r>
            <a:endParaRPr lang="en-GB" sz="2400" b="1" dirty="0" smtClean="0"/>
          </a:p>
          <a:p>
            <a:r>
              <a:rPr lang="en-GB" sz="2400" b="1" dirty="0" smtClean="0"/>
              <a:t>5 </a:t>
            </a:r>
            <a:r>
              <a:rPr lang="en-GB" sz="2400" b="1" dirty="0" smtClean="0"/>
              <a:t>× fact(4)</a:t>
            </a:r>
          </a:p>
          <a:p>
            <a:r>
              <a:rPr lang="en-GB" sz="2400" b="1" dirty="0" smtClean="0"/>
              <a:t>↓</a:t>
            </a:r>
            <a:endParaRPr lang="en-GB" sz="2400" b="1" dirty="0" smtClean="0"/>
          </a:p>
          <a:p>
            <a:r>
              <a:rPr lang="en-GB" sz="2400" b="1" dirty="0" smtClean="0"/>
              <a:t>5 </a:t>
            </a:r>
            <a:r>
              <a:rPr lang="en-GB" sz="2400" b="1" dirty="0" smtClean="0"/>
              <a:t>× 4 × fact(3)</a:t>
            </a:r>
          </a:p>
          <a:p>
            <a:r>
              <a:rPr lang="en-GB" sz="2400" b="1" dirty="0" smtClean="0"/>
              <a:t>↓</a:t>
            </a:r>
            <a:endParaRPr lang="en-GB" sz="2400" b="1" dirty="0" smtClean="0"/>
          </a:p>
          <a:p>
            <a:r>
              <a:rPr lang="en-GB" sz="2400" b="1" dirty="0" smtClean="0"/>
              <a:t>5 </a:t>
            </a:r>
            <a:r>
              <a:rPr lang="en-GB" sz="2400" b="1" dirty="0" smtClean="0"/>
              <a:t>× 4 × 3 × fact(2)</a:t>
            </a:r>
          </a:p>
          <a:p>
            <a:r>
              <a:rPr lang="en-GB" sz="2400" b="1" dirty="0" smtClean="0"/>
              <a:t>↓</a:t>
            </a:r>
            <a:endParaRPr lang="en-GB" sz="2400" b="1" dirty="0" smtClean="0"/>
          </a:p>
          <a:p>
            <a:r>
              <a:rPr lang="en-GB" sz="2400" b="1" dirty="0" smtClean="0"/>
              <a:t>5 </a:t>
            </a:r>
            <a:r>
              <a:rPr lang="en-GB" sz="2400" b="1" dirty="0" smtClean="0"/>
              <a:t>× 4 × 3 × 2 × fact(1)</a:t>
            </a:r>
          </a:p>
          <a:p>
            <a:r>
              <a:rPr lang="en-GB" sz="2400" b="1" dirty="0" smtClean="0"/>
              <a:t>↓</a:t>
            </a:r>
            <a:endParaRPr lang="en-GB" sz="2400" b="1" dirty="0" smtClean="0"/>
          </a:p>
          <a:p>
            <a:r>
              <a:rPr lang="en-GB" sz="2400" b="1" dirty="0" smtClean="0"/>
              <a:t>120</a:t>
            </a:r>
            <a:endParaRPr lang="en-US" sz="2400" b="1"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sp>
        <p:nvSpPr>
          <p:cNvPr id="5" name="Rectangle 4"/>
          <p:cNvSpPr/>
          <p:nvPr/>
        </p:nvSpPr>
        <p:spPr>
          <a:xfrm>
            <a:off x="457200" y="117693"/>
            <a:ext cx="8229600" cy="6740307"/>
          </a:xfrm>
          <a:prstGeom prst="rect">
            <a:avLst/>
          </a:prstGeom>
        </p:spPr>
        <p:txBody>
          <a:bodyPr wrap="square">
            <a:spAutoFit/>
          </a:bodyPr>
          <a:lstStyle/>
          <a:p>
            <a:pPr algn="ctr"/>
            <a:r>
              <a:rPr lang="en-GB" sz="2400" b="1" dirty="0" smtClean="0"/>
              <a:t>Analysis of Recursive Algorithms</a:t>
            </a:r>
          </a:p>
          <a:p>
            <a:endParaRPr lang="en-GB" sz="2400" b="1" dirty="0" smtClean="0"/>
          </a:p>
          <a:p>
            <a:r>
              <a:rPr lang="en-GB" sz="2400" b="1" dirty="0" smtClean="0"/>
              <a:t>If n increases then time also will increase...</a:t>
            </a:r>
          </a:p>
          <a:p>
            <a:endParaRPr lang="en-GB" sz="2400" b="1" dirty="0" smtClean="0"/>
          </a:p>
          <a:p>
            <a:r>
              <a:rPr lang="en-GB" sz="2400" b="1" dirty="0" smtClean="0"/>
              <a:t>So...Time </a:t>
            </a:r>
            <a:r>
              <a:rPr lang="en-GB" sz="2400" b="1" dirty="0" smtClean="0"/>
              <a:t>complexity= O(n)  </a:t>
            </a:r>
          </a:p>
          <a:p>
            <a:endParaRPr lang="en-GB" sz="2400" b="1" dirty="0" smtClean="0"/>
          </a:p>
          <a:p>
            <a:endParaRPr lang="en-GB" sz="2400" b="1" dirty="0" smtClean="0"/>
          </a:p>
          <a:p>
            <a:r>
              <a:rPr lang="en-GB" sz="2400" b="1" dirty="0" smtClean="0"/>
              <a:t>Space complexity=</a:t>
            </a:r>
            <a:r>
              <a:rPr lang="en-GB" sz="2400" b="1" dirty="0" smtClean="0"/>
              <a:t> O(n</a:t>
            </a:r>
            <a:r>
              <a:rPr lang="en-GB" sz="2400" b="1" dirty="0" smtClean="0"/>
              <a:t>)</a:t>
            </a:r>
          </a:p>
          <a:p>
            <a:endParaRPr lang="en-GB" sz="2400" b="1" dirty="0" smtClean="0"/>
          </a:p>
          <a:p>
            <a:r>
              <a:rPr lang="en-GB" sz="2400" dirty="0" smtClean="0"/>
              <a:t>Each recursive call occupies memory in the </a:t>
            </a:r>
            <a:r>
              <a:rPr lang="en-GB" sz="2400" b="1" dirty="0" smtClean="0"/>
              <a:t>call stack</a:t>
            </a:r>
            <a:r>
              <a:rPr lang="en-GB" sz="2400" dirty="0" smtClean="0"/>
              <a:t>.</a:t>
            </a:r>
          </a:p>
          <a:p>
            <a:endParaRPr lang="en-GB" sz="2400" b="1" dirty="0" smtClean="0"/>
          </a:p>
          <a:p>
            <a:r>
              <a:rPr lang="en-GB" sz="2400" dirty="0" smtClean="0"/>
              <a:t>fact(5) </a:t>
            </a:r>
            <a:r>
              <a:rPr lang="en-GB" sz="2400" dirty="0" smtClean="0"/>
              <a:t> 120</a:t>
            </a:r>
          </a:p>
          <a:p>
            <a:r>
              <a:rPr lang="en-GB" sz="2400" dirty="0" smtClean="0"/>
              <a:t>fact(4</a:t>
            </a:r>
            <a:r>
              <a:rPr lang="en-GB" sz="2400" dirty="0" smtClean="0"/>
              <a:t>) </a:t>
            </a:r>
            <a:r>
              <a:rPr lang="en-GB" sz="2400" dirty="0" smtClean="0"/>
              <a:t> 24 </a:t>
            </a:r>
          </a:p>
          <a:p>
            <a:r>
              <a:rPr lang="en-GB" sz="2400" dirty="0" smtClean="0"/>
              <a:t>fact(3</a:t>
            </a:r>
            <a:r>
              <a:rPr lang="en-GB" sz="2400" dirty="0" smtClean="0"/>
              <a:t>) </a:t>
            </a:r>
            <a:r>
              <a:rPr lang="en-GB" sz="2400" dirty="0" smtClean="0"/>
              <a:t>   6</a:t>
            </a:r>
          </a:p>
          <a:p>
            <a:r>
              <a:rPr lang="en-GB" sz="2400" dirty="0" smtClean="0"/>
              <a:t>fact(2</a:t>
            </a:r>
            <a:r>
              <a:rPr lang="en-GB" sz="2400" dirty="0" smtClean="0"/>
              <a:t>) </a:t>
            </a:r>
            <a:r>
              <a:rPr lang="en-GB" sz="2400" dirty="0" smtClean="0"/>
              <a:t>   2</a:t>
            </a:r>
          </a:p>
          <a:p>
            <a:r>
              <a:rPr lang="en-GB" sz="2400" dirty="0" smtClean="0"/>
              <a:t>fact(1)   1</a:t>
            </a:r>
            <a:endParaRPr lang="en-GB" sz="2400" b="1" dirty="0" smtClean="0"/>
          </a:p>
          <a:p>
            <a:endParaRPr lang="en-GB" sz="2400" b="1" dirty="0" smtClean="0"/>
          </a:p>
          <a:p>
            <a:endParaRPr lang="en-US" sz="2400" b="1" dirty="0" smtClean="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sp>
        <p:nvSpPr>
          <p:cNvPr id="5" name="Rectangle 4"/>
          <p:cNvSpPr/>
          <p:nvPr/>
        </p:nvSpPr>
        <p:spPr>
          <a:xfrm>
            <a:off x="457200" y="117693"/>
            <a:ext cx="8001000" cy="5632311"/>
          </a:xfrm>
          <a:prstGeom prst="rect">
            <a:avLst/>
          </a:prstGeom>
        </p:spPr>
        <p:txBody>
          <a:bodyPr wrap="square">
            <a:spAutoFit/>
          </a:bodyPr>
          <a:lstStyle/>
          <a:p>
            <a:pPr algn="ctr"/>
            <a:r>
              <a:rPr lang="en-GB" sz="2400" b="1" dirty="0" smtClean="0"/>
              <a:t>Analysis of Recursive </a:t>
            </a:r>
            <a:r>
              <a:rPr lang="en-GB" sz="2400" b="1" dirty="0" smtClean="0"/>
              <a:t>Algorithms</a:t>
            </a:r>
          </a:p>
          <a:p>
            <a:pPr algn="ctr"/>
            <a:endParaRPr lang="en-GB" sz="2400" b="1" dirty="0" smtClean="0"/>
          </a:p>
          <a:p>
            <a:r>
              <a:rPr lang="en-GB" sz="2400" b="1" dirty="0" smtClean="0"/>
              <a:t> Example 2 </a:t>
            </a:r>
            <a:r>
              <a:rPr lang="en-US" sz="2400" b="1" dirty="0" smtClean="0"/>
              <a:t>Fibonacci Series</a:t>
            </a:r>
          </a:p>
          <a:p>
            <a:endParaRPr lang="en-US" sz="2400" b="1" dirty="0" smtClean="0"/>
          </a:p>
          <a:p>
            <a:r>
              <a:rPr lang="en-US" sz="2400" dirty="0" smtClean="0"/>
              <a:t>The Fibonacci sequence is</a:t>
            </a:r>
          </a:p>
          <a:p>
            <a:r>
              <a:rPr lang="en-US" sz="2400" dirty="0" smtClean="0"/>
              <a:t>0 1 1 2 3 5 8 13 21 </a:t>
            </a:r>
            <a:r>
              <a:rPr lang="en-US" sz="2400" dirty="0" smtClean="0"/>
              <a:t>...</a:t>
            </a:r>
          </a:p>
          <a:p>
            <a:endParaRPr lang="en-GB" sz="2400" dirty="0" smtClean="0"/>
          </a:p>
          <a:p>
            <a:endParaRPr lang="en-GB" sz="2400" dirty="0" smtClean="0"/>
          </a:p>
          <a:p>
            <a:endParaRPr lang="en-GB" sz="2400" dirty="0" smtClean="0"/>
          </a:p>
          <a:p>
            <a:endParaRPr lang="en-GB" sz="2400" dirty="0" smtClean="0"/>
          </a:p>
          <a:p>
            <a:endParaRPr lang="en-GB" sz="2400" dirty="0" smtClean="0"/>
          </a:p>
          <a:p>
            <a:endParaRPr lang="en-US" sz="2400" dirty="0" smtClean="0"/>
          </a:p>
          <a:p>
            <a:endParaRPr lang="en-GB" sz="2400" dirty="0" smtClean="0"/>
          </a:p>
          <a:p>
            <a:endParaRPr lang="en-GB" sz="2400" b="1" dirty="0" smtClean="0"/>
          </a:p>
          <a:p>
            <a:endParaRPr lang="en-US" sz="2400" b="1" dirty="0" smtClean="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sp>
        <p:nvSpPr>
          <p:cNvPr id="5" name="Rectangle 4"/>
          <p:cNvSpPr/>
          <p:nvPr/>
        </p:nvSpPr>
        <p:spPr>
          <a:xfrm>
            <a:off x="457200" y="117693"/>
            <a:ext cx="8001000" cy="6740307"/>
          </a:xfrm>
          <a:prstGeom prst="rect">
            <a:avLst/>
          </a:prstGeom>
        </p:spPr>
        <p:txBody>
          <a:bodyPr wrap="square">
            <a:spAutoFit/>
          </a:bodyPr>
          <a:lstStyle/>
          <a:p>
            <a:pPr algn="ctr"/>
            <a:r>
              <a:rPr lang="en-GB" sz="2400" b="1" dirty="0" smtClean="0"/>
              <a:t>Analysis of Recursive </a:t>
            </a:r>
            <a:r>
              <a:rPr lang="en-GB" sz="2400" b="1" dirty="0" smtClean="0"/>
              <a:t>Algorithms</a:t>
            </a:r>
          </a:p>
          <a:p>
            <a:pPr algn="ctr"/>
            <a:r>
              <a:rPr lang="en-GB" sz="2400" b="1" dirty="0" smtClean="0"/>
              <a:t>Example </a:t>
            </a:r>
            <a:r>
              <a:rPr lang="en-GB" sz="2400" b="1" dirty="0" smtClean="0"/>
              <a:t>2 </a:t>
            </a:r>
            <a:r>
              <a:rPr lang="en-US" sz="2400" b="1" dirty="0" smtClean="0"/>
              <a:t>Fibonacci Series</a:t>
            </a:r>
            <a:endParaRPr lang="en-GB" sz="2400" b="1" dirty="0" smtClean="0"/>
          </a:p>
          <a:p>
            <a:r>
              <a:rPr lang="en-GB" sz="2400" dirty="0" smtClean="0"/>
              <a:t>#include &lt;</a:t>
            </a:r>
            <a:r>
              <a:rPr lang="en-GB" sz="2400" dirty="0" err="1" smtClean="0"/>
              <a:t>stdio.h</a:t>
            </a:r>
            <a:r>
              <a:rPr lang="en-GB" sz="2400" dirty="0" smtClean="0"/>
              <a:t>&gt;</a:t>
            </a:r>
          </a:p>
          <a:p>
            <a:r>
              <a:rPr lang="en-GB" sz="2400" dirty="0" err="1" smtClean="0"/>
              <a:t>int</a:t>
            </a:r>
            <a:r>
              <a:rPr lang="en-GB" sz="2400" dirty="0" smtClean="0"/>
              <a:t> </a:t>
            </a:r>
            <a:r>
              <a:rPr lang="en-GB" sz="2400" b="1" dirty="0" err="1" smtClean="0"/>
              <a:t>fibonacci</a:t>
            </a:r>
            <a:r>
              <a:rPr lang="en-GB" sz="2400" b="1" dirty="0" smtClean="0"/>
              <a:t>(</a:t>
            </a:r>
            <a:r>
              <a:rPr lang="en-GB" sz="2400" b="1" dirty="0" err="1" smtClean="0"/>
              <a:t>int</a:t>
            </a:r>
            <a:r>
              <a:rPr lang="en-GB" sz="2400" b="1" dirty="0" smtClean="0"/>
              <a:t> n)</a:t>
            </a:r>
          </a:p>
          <a:p>
            <a:r>
              <a:rPr lang="en-GB" sz="2400" dirty="0" smtClean="0"/>
              <a:t>{</a:t>
            </a:r>
          </a:p>
          <a:p>
            <a:r>
              <a:rPr lang="en-GB" sz="2400" dirty="0" smtClean="0"/>
              <a:t>    if(n == 0)</a:t>
            </a:r>
          </a:p>
          <a:p>
            <a:r>
              <a:rPr lang="en-GB" sz="2400" dirty="0" smtClean="0"/>
              <a:t>        return 0;</a:t>
            </a:r>
          </a:p>
          <a:p>
            <a:r>
              <a:rPr lang="en-GB" sz="2400" dirty="0" smtClean="0"/>
              <a:t>    </a:t>
            </a:r>
            <a:r>
              <a:rPr lang="en-GB" sz="2400" dirty="0" smtClean="0"/>
              <a:t>if(n == 1)</a:t>
            </a:r>
          </a:p>
          <a:p>
            <a:r>
              <a:rPr lang="en-GB" sz="2400" dirty="0" smtClean="0"/>
              <a:t>        return 1;</a:t>
            </a:r>
          </a:p>
          <a:p>
            <a:r>
              <a:rPr lang="en-GB" sz="2400" dirty="0" smtClean="0"/>
              <a:t>    </a:t>
            </a:r>
            <a:r>
              <a:rPr lang="en-GB" sz="2400" dirty="0" smtClean="0"/>
              <a:t>return </a:t>
            </a:r>
            <a:r>
              <a:rPr lang="en-GB" sz="2400" b="1" dirty="0" err="1" smtClean="0"/>
              <a:t>fibonacci</a:t>
            </a:r>
            <a:r>
              <a:rPr lang="en-GB" sz="2400" b="1" dirty="0" smtClean="0"/>
              <a:t>(n-1) + </a:t>
            </a:r>
            <a:r>
              <a:rPr lang="en-GB" sz="2400" b="1" dirty="0" err="1" smtClean="0"/>
              <a:t>fibonacci</a:t>
            </a:r>
            <a:r>
              <a:rPr lang="en-GB" sz="2400" b="1" dirty="0" smtClean="0"/>
              <a:t>(n-2);</a:t>
            </a:r>
          </a:p>
          <a:p>
            <a:r>
              <a:rPr lang="en-GB" sz="2400" dirty="0" smtClean="0"/>
              <a:t>}</a:t>
            </a:r>
          </a:p>
          <a:p>
            <a:r>
              <a:rPr lang="en-GB" sz="2400" dirty="0" err="1" smtClean="0"/>
              <a:t>int</a:t>
            </a:r>
            <a:r>
              <a:rPr lang="en-GB" sz="2400" dirty="0" smtClean="0"/>
              <a:t> </a:t>
            </a:r>
            <a:r>
              <a:rPr lang="en-GB" sz="2400" dirty="0" smtClean="0"/>
              <a:t>main()</a:t>
            </a:r>
          </a:p>
          <a:p>
            <a:r>
              <a:rPr lang="en-GB" sz="2400" dirty="0" smtClean="0"/>
              <a:t>{</a:t>
            </a:r>
          </a:p>
          <a:p>
            <a:r>
              <a:rPr lang="en-GB" sz="2400" dirty="0" smtClean="0"/>
              <a:t>    </a:t>
            </a:r>
            <a:r>
              <a:rPr lang="en-GB" sz="2400" dirty="0" err="1" smtClean="0"/>
              <a:t>int</a:t>
            </a:r>
            <a:r>
              <a:rPr lang="en-GB" sz="2400" dirty="0" smtClean="0"/>
              <a:t> n;</a:t>
            </a:r>
          </a:p>
          <a:p>
            <a:r>
              <a:rPr lang="en-GB" sz="2400" dirty="0" smtClean="0"/>
              <a:t>    </a:t>
            </a:r>
            <a:r>
              <a:rPr lang="en-GB" sz="2400" dirty="0" err="1" smtClean="0"/>
              <a:t>printf</a:t>
            </a:r>
            <a:r>
              <a:rPr lang="en-GB" sz="2400" dirty="0" smtClean="0"/>
              <a:t>("Enter n: ");</a:t>
            </a:r>
          </a:p>
          <a:p>
            <a:r>
              <a:rPr lang="en-GB" sz="2400" dirty="0" smtClean="0"/>
              <a:t>    </a:t>
            </a:r>
            <a:r>
              <a:rPr lang="en-GB" sz="2400" dirty="0" err="1" smtClean="0"/>
              <a:t>scanf</a:t>
            </a:r>
            <a:r>
              <a:rPr lang="en-GB" sz="2400" dirty="0" smtClean="0"/>
              <a:t>("%</a:t>
            </a:r>
            <a:r>
              <a:rPr lang="en-GB" sz="2400" dirty="0" err="1" smtClean="0"/>
              <a:t>d",&amp;n</a:t>
            </a:r>
            <a:r>
              <a:rPr lang="en-GB" sz="2400" dirty="0" smtClean="0"/>
              <a:t>);</a:t>
            </a:r>
          </a:p>
          <a:p>
            <a:r>
              <a:rPr lang="en-GB" sz="2400" dirty="0" smtClean="0"/>
              <a:t>    </a:t>
            </a:r>
            <a:r>
              <a:rPr lang="en-GB" sz="2400" dirty="0" err="1" smtClean="0"/>
              <a:t>printf</a:t>
            </a:r>
            <a:r>
              <a:rPr lang="en-GB" sz="2400" dirty="0" smtClean="0"/>
              <a:t>("Fibonacci = %d", </a:t>
            </a:r>
            <a:r>
              <a:rPr lang="en-GB" sz="2400" b="1" dirty="0" err="1" smtClean="0"/>
              <a:t>fibonacci</a:t>
            </a:r>
            <a:r>
              <a:rPr lang="en-GB" sz="2400" b="1" dirty="0" smtClean="0"/>
              <a:t>(n));</a:t>
            </a:r>
          </a:p>
          <a:p>
            <a:r>
              <a:rPr lang="en-GB" sz="2400" dirty="0" smtClean="0"/>
              <a:t>    </a:t>
            </a:r>
            <a:r>
              <a:rPr lang="en-GB" sz="2400" dirty="0" smtClean="0"/>
              <a:t>return 0</a:t>
            </a:r>
            <a:r>
              <a:rPr lang="en-GB" sz="2400" dirty="0" smtClean="0"/>
              <a:t>;  }</a:t>
            </a:r>
            <a:endParaRPr lang="en-US" sz="2400" b="1" dirty="0" smtClean="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0"/>
            <a:ext cx="8610600" cy="830997"/>
          </a:xfrm>
          <a:prstGeom prst="rect">
            <a:avLst/>
          </a:prstGeom>
        </p:spPr>
        <p:txBody>
          <a:bodyPr wrap="square">
            <a:spAutoFit/>
          </a:bodyPr>
          <a:lstStyle/>
          <a:p>
            <a:endParaRPr lang="en-GB" sz="2400" dirty="0" smtClean="0"/>
          </a:p>
          <a:p>
            <a:r>
              <a:rPr lang="en-GB" sz="2400" dirty="0" smtClean="0"/>
              <a:t>.</a:t>
            </a:r>
            <a:endParaRPr lang="en-GB" sz="2400" dirty="0"/>
          </a:p>
        </p:txBody>
      </p:sp>
      <p:sp>
        <p:nvSpPr>
          <p:cNvPr id="4" name="Rectangle 3"/>
          <p:cNvSpPr/>
          <p:nvPr/>
        </p:nvSpPr>
        <p:spPr>
          <a:xfrm>
            <a:off x="304800" y="0"/>
            <a:ext cx="8686800" cy="523220"/>
          </a:xfrm>
          <a:prstGeom prst="rect">
            <a:avLst/>
          </a:prstGeom>
        </p:spPr>
        <p:txBody>
          <a:bodyPr wrap="square">
            <a:spAutoFit/>
          </a:bodyPr>
          <a:lstStyle/>
          <a:p>
            <a:r>
              <a:rPr lang="en-GB" sz="2800" b="1" dirty="0" smtClean="0"/>
              <a:t>               </a:t>
            </a:r>
            <a:endParaRPr lang="en-GB" sz="2800" dirty="0" smtClean="0"/>
          </a:p>
        </p:txBody>
      </p:sp>
      <p:sp>
        <p:nvSpPr>
          <p:cNvPr id="5" name="Rectangle 4"/>
          <p:cNvSpPr/>
          <p:nvPr/>
        </p:nvSpPr>
        <p:spPr>
          <a:xfrm>
            <a:off x="457200" y="117693"/>
            <a:ext cx="8001000" cy="7478970"/>
          </a:xfrm>
          <a:prstGeom prst="rect">
            <a:avLst/>
          </a:prstGeom>
        </p:spPr>
        <p:txBody>
          <a:bodyPr wrap="square">
            <a:spAutoFit/>
          </a:bodyPr>
          <a:lstStyle/>
          <a:p>
            <a:pPr algn="ctr"/>
            <a:r>
              <a:rPr lang="en-GB" sz="2400" b="1" dirty="0" smtClean="0"/>
              <a:t>Analysis of Recursive </a:t>
            </a:r>
            <a:r>
              <a:rPr lang="en-GB" sz="2400" b="1" dirty="0" smtClean="0"/>
              <a:t>Algorithms</a:t>
            </a:r>
          </a:p>
          <a:p>
            <a:pPr algn="ctr"/>
            <a:r>
              <a:rPr lang="en-GB" sz="2400" b="1" dirty="0" smtClean="0"/>
              <a:t>Example </a:t>
            </a:r>
            <a:r>
              <a:rPr lang="en-GB" sz="2400" b="1" dirty="0" smtClean="0"/>
              <a:t>2 </a:t>
            </a:r>
            <a:r>
              <a:rPr lang="en-US" sz="2400" b="1" dirty="0" smtClean="0"/>
              <a:t>Fibonacci Series</a:t>
            </a:r>
            <a:endParaRPr lang="en-GB" sz="2400" b="1" dirty="0" smtClean="0"/>
          </a:p>
          <a:p>
            <a:r>
              <a:rPr lang="en-GB" sz="2400" dirty="0" smtClean="0"/>
              <a:t>Algorithm Fibonacci(n)</a:t>
            </a:r>
          </a:p>
          <a:p>
            <a:endParaRPr lang="en-GB" sz="2400" dirty="0" smtClean="0"/>
          </a:p>
          <a:p>
            <a:r>
              <a:rPr lang="en-GB" sz="2400" dirty="0" smtClean="0"/>
              <a:t>Step 1: If n = 0</a:t>
            </a:r>
          </a:p>
          <a:p>
            <a:r>
              <a:rPr lang="en-GB" sz="2400" dirty="0" smtClean="0"/>
              <a:t>            Return 0</a:t>
            </a:r>
          </a:p>
          <a:p>
            <a:endParaRPr lang="en-GB" sz="2400" dirty="0" smtClean="0"/>
          </a:p>
          <a:p>
            <a:r>
              <a:rPr lang="en-GB" sz="2400" dirty="0" smtClean="0"/>
              <a:t>Step 2: If n = 1</a:t>
            </a:r>
          </a:p>
          <a:p>
            <a:r>
              <a:rPr lang="en-GB" sz="2400" dirty="0" smtClean="0"/>
              <a:t>            Return 1</a:t>
            </a:r>
          </a:p>
          <a:p>
            <a:endParaRPr lang="en-GB" sz="2400" dirty="0" smtClean="0"/>
          </a:p>
          <a:p>
            <a:r>
              <a:rPr lang="en-GB" sz="2400" dirty="0" smtClean="0"/>
              <a:t>Step 3: Return Fibonacci(n-1) + Fibonacci(n-2)</a:t>
            </a:r>
          </a:p>
          <a:p>
            <a:endParaRPr lang="en-GB" sz="2400" dirty="0" smtClean="0"/>
          </a:p>
          <a:p>
            <a:r>
              <a:rPr lang="en-GB" sz="2400" dirty="0" smtClean="0"/>
              <a:t>Step 4: End</a:t>
            </a:r>
            <a:endParaRPr lang="en-GB" sz="2400" dirty="0" smtClean="0"/>
          </a:p>
          <a:p>
            <a:endParaRPr lang="en-GB" sz="2400" dirty="0" smtClean="0"/>
          </a:p>
          <a:p>
            <a:r>
              <a:rPr lang="en-GB" sz="2400" b="1" dirty="0" smtClean="0"/>
              <a:t>Time complexity= </a:t>
            </a:r>
            <a:r>
              <a:rPr lang="en-US" sz="2400" dirty="0" smtClean="0"/>
              <a:t>T(n</a:t>
            </a:r>
            <a:r>
              <a:rPr lang="en-US" sz="2400" dirty="0" smtClean="0"/>
              <a:t>)=T(n−1)+T(n−2)+1  = </a:t>
            </a:r>
            <a:r>
              <a:rPr lang="en-US" sz="2400" b="1" dirty="0" smtClean="0"/>
              <a:t>O(2ⁿ)</a:t>
            </a:r>
            <a:endParaRPr lang="en-GB" sz="2400" b="1" dirty="0" smtClean="0"/>
          </a:p>
          <a:p>
            <a:r>
              <a:rPr lang="en-GB" sz="2400" b="1" dirty="0" smtClean="0"/>
              <a:t>Space complexity= O(n)  </a:t>
            </a:r>
          </a:p>
          <a:p>
            <a:r>
              <a:rPr lang="en-GB" sz="2400" dirty="0" smtClean="0"/>
              <a:t>(stack stores every previous value...so if n increases then space also  will increase)</a:t>
            </a:r>
          </a:p>
          <a:p>
            <a:endParaRPr lang="en-GB" sz="2400" b="1" dirty="0" smtClean="0"/>
          </a:p>
          <a:p>
            <a:endParaRPr lang="en-US" sz="2400" b="1"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916</TotalTime>
  <Words>1973</Words>
  <Application>Microsoft Office PowerPoint</Application>
  <PresentationFormat>On-screen Show (4:3)</PresentationFormat>
  <Paragraphs>554</Paragraphs>
  <Slides>53</Slides>
  <Notes>0</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Office Theme</vt:lpstr>
      <vt:lpstr>UACSA105 –Data Structures and Algorithms</vt:lpstr>
      <vt:lpstr>   Course Objectives    1. Analyze algorithm efficiency using asymptotic notation.  2. Differentiate linear, non-linear data structures and their operations.  3. Design and apply appropriate data structures to solve real-world problems.    </vt:lpstr>
      <vt:lpstr>        Course Outcomes    1. Understand the basic concepts of data structures and time complexity analysis of algorithms  2. Choose appropriate linear data structures and legal operations permitted on them.  3. Articulate non-linear data structure operations for solving a given problem.  4. Discover various tree and graph traversals.  5. Analyze the various searching and sorting algorithm   </vt:lpstr>
      <vt:lpstr>Module -1 Algorithm Analysis</vt:lpstr>
      <vt:lpstr>Slide 5</vt:lpstr>
      <vt:lpstr>What is a Data Structure? A Data Structure is a method of organizing data in a computer so that it can be stored, retrieved, updated, and processed efficiently. Examples: Array  Linked List  Stack  Queue  Tree  Graph  Hash Table  Each data structure has its own advantages and is suitable for solving specific types of problems. </vt:lpstr>
      <vt:lpstr>Slide 7</vt:lpstr>
      <vt:lpstr>Slide 8</vt:lpstr>
      <vt:lpstr>   What is an Algorithm? An Algorithm is a finite sequence of well-defined instructions designed to solve a particular problem. Characteristics of an Algorithm Input  Output  Definiteness (clear steps)  Finiteness (must terminate)  Effectiveness (steps should be practical)  Example Problem: Find the largest number among three numbers. Algorithm: Read A, B, and C.  Compare A, B, and C.  Display the largest number.  Stop.  </vt:lpstr>
      <vt:lpstr> Applications of Data Structures and Algorithms 1. Navigation Systems (Google Maps)                 </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 Data Structure? A Data Structure is a method of organizing data in a computer so that it can be stored, retrieved, updated, and processed efficiently. Examples: Array  Linked List  Stack  Queue  Tree  Graph  Hash Table  Each data structure has its own advantages and is suitable for solving specific types of problems. </dc:title>
  <dc:creator>Raj</dc:creator>
  <cp:lastModifiedBy>Raj</cp:lastModifiedBy>
  <cp:revision>99</cp:revision>
  <dcterms:created xsi:type="dcterms:W3CDTF">2006-08-16T00:00:00Z</dcterms:created>
  <dcterms:modified xsi:type="dcterms:W3CDTF">2026-07-22T07:34:16Z</dcterms:modified>
</cp:coreProperties>
</file>